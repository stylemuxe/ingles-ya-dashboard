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D72"/>
        </a:solidFill>
        <a:effectLst/>
      </p:bgPr>
    </p:bg>
    <p:spTree>
      <p:nvGrpSpPr>
        <p:cNvPr id="1" name=""/>
        <p:cNvGrpSpPr/>
        <p:nvPr/>
      </p:nvGrpSpPr>
      <p:grpSpPr/>
      <p:sp>
        <p:nvSpPr>
          <p:cNvPr id="2" name="Rectangle 1"/>
          <p:cNvSpPr/>
          <p:nvPr/>
        </p:nvSpPr>
        <p:spPr>
          <a:xfrm>
            <a:off x="0" y="0"/>
            <a:ext cx="12188952" cy="164592"/>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88952" cy="164592"/>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731520"/>
            <a:ext cx="11274552" cy="53035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822960"/>
            <a:ext cx="1097280" cy="1097280"/>
          </a:xfrm>
          <a:prstGeom prst="rect">
            <a:avLst/>
          </a:prstGeom>
          <a:noFill/>
        </p:spPr>
        <p:txBody>
          <a:bodyPr wrap="square">
            <a:spAutoFit/>
          </a:bodyPr>
          <a:lstStyle/>
          <a:p>
            <a:pPr algn="ctr"/>
            <a:r>
              <a:rPr sz="5200" b="0">
                <a:solidFill>
                  <a:srgbClr val="FFFFFF"/>
                </a:solidFill>
              </a:rPr>
              <a:t>⚽</a:t>
            </a:r>
          </a:p>
        </p:txBody>
      </p:sp>
      <p:sp>
        <p:nvSpPr>
          <p:cNvPr id="6" name="TextBox 5"/>
          <p:cNvSpPr txBox="1"/>
          <p:nvPr/>
        </p:nvSpPr>
        <p:spPr>
          <a:xfrm>
            <a:off x="10332720" y="4572000"/>
            <a:ext cx="1097280" cy="1097280"/>
          </a:xfrm>
          <a:prstGeom prst="rect">
            <a:avLst/>
          </a:prstGeom>
          <a:noFill/>
        </p:spPr>
        <p:txBody>
          <a:bodyPr wrap="square">
            <a:spAutoFit/>
          </a:bodyPr>
          <a:lstStyle/>
          <a:p>
            <a:pPr algn="ctr"/>
            <a:r>
              <a:rPr sz="5200" b="0">
                <a:solidFill>
                  <a:srgbClr val="FFFFFF"/>
                </a:solidFill>
              </a:rPr>
              <a:t>⚽</a:t>
            </a:r>
          </a:p>
        </p:txBody>
      </p:sp>
      <p:sp>
        <p:nvSpPr>
          <p:cNvPr id="7" name="TextBox 6"/>
          <p:cNvSpPr txBox="1"/>
          <p:nvPr/>
        </p:nvSpPr>
        <p:spPr>
          <a:xfrm>
            <a:off x="1828800" y="1097280"/>
            <a:ext cx="8229600" cy="822960"/>
          </a:xfrm>
          <a:prstGeom prst="rect">
            <a:avLst/>
          </a:prstGeom>
          <a:noFill/>
        </p:spPr>
        <p:txBody>
          <a:bodyPr wrap="square">
            <a:spAutoFit/>
          </a:bodyPr>
          <a:lstStyle/>
          <a:p>
            <a:pPr algn="ctr"/>
            <a:r>
              <a:rPr sz="3400" b="1">
                <a:solidFill>
                  <a:srgbClr val="FFC200"/>
                </a:solidFill>
              </a:rPr>
              <a:t>PARRILLA DE CONTENIDO</a:t>
            </a:r>
          </a:p>
        </p:txBody>
      </p:sp>
      <p:sp>
        <p:nvSpPr>
          <p:cNvPr id="8" name="TextBox 7"/>
          <p:cNvSpPr txBox="1"/>
          <p:nvPr/>
        </p:nvSpPr>
        <p:spPr>
          <a:xfrm>
            <a:off x="1828800" y="1828800"/>
            <a:ext cx="8229600" cy="731520"/>
          </a:xfrm>
          <a:prstGeom prst="rect">
            <a:avLst/>
          </a:prstGeom>
          <a:noFill/>
        </p:spPr>
        <p:txBody>
          <a:bodyPr wrap="square">
            <a:spAutoFit/>
          </a:bodyPr>
          <a:lstStyle/>
          <a:p>
            <a:pPr algn="ctr"/>
            <a:r>
              <a:rPr sz="5400" b="1">
                <a:solidFill>
                  <a:srgbClr val="FFFFFF"/>
                </a:solidFill>
              </a:rPr>
              <a:t>JUNIO 2026</a:t>
            </a:r>
          </a:p>
        </p:txBody>
      </p:sp>
      <p:sp>
        <p:nvSpPr>
          <p:cNvPr id="9" name="Rectangle 8"/>
          <p:cNvSpPr/>
          <p:nvPr/>
        </p:nvSpPr>
        <p:spPr>
          <a:xfrm>
            <a:off x="3200400" y="2697480"/>
            <a:ext cx="5788152" cy="54864"/>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880360"/>
            <a:ext cx="9445752" cy="640080"/>
          </a:xfrm>
          <a:prstGeom prst="rect">
            <a:avLst/>
          </a:prstGeom>
          <a:noFill/>
        </p:spPr>
        <p:txBody>
          <a:bodyPr wrap="square">
            <a:spAutoFit/>
          </a:bodyPr>
          <a:lstStyle/>
          <a:p>
            <a:pPr algn="ctr"/>
            <a:r>
              <a:rPr sz="2200" b="1">
                <a:solidFill>
                  <a:srgbClr val="FFFFFF"/>
                </a:solidFill>
              </a:rPr>
              <a:t>"No te quedes con cara de WHAT"</a:t>
            </a:r>
          </a:p>
        </p:txBody>
      </p:sp>
      <p:sp>
        <p:nvSpPr>
          <p:cNvPr id="11" name="TextBox 10"/>
          <p:cNvSpPr txBox="1"/>
          <p:nvPr/>
        </p:nvSpPr>
        <p:spPr>
          <a:xfrm>
            <a:off x="1371600" y="3520440"/>
            <a:ext cx="9445752" cy="457200"/>
          </a:xfrm>
          <a:prstGeom prst="rect">
            <a:avLst/>
          </a:prstGeom>
          <a:noFill/>
        </p:spPr>
        <p:txBody>
          <a:bodyPr wrap="square">
            <a:spAutoFit/>
          </a:bodyPr>
          <a:lstStyle/>
          <a:p>
            <a:pPr algn="ctr"/>
            <a:r>
              <a:rPr sz="1600" b="0">
                <a:solidFill>
                  <a:srgbClr val="FFC200"/>
                </a:solidFill>
              </a:rPr>
              <a:t>Inglés YA  ×  Mundial 2026</a:t>
            </a:r>
          </a:p>
        </p:txBody>
      </p:sp>
      <p:sp>
        <p:nvSpPr>
          <p:cNvPr id="12" name="Rectangle 11"/>
          <p:cNvSpPr/>
          <p:nvPr/>
        </p:nvSpPr>
        <p:spPr>
          <a:xfrm>
            <a:off x="4114800" y="4206240"/>
            <a:ext cx="3959352" cy="50292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  ESPECIAL MUNDIAL FIFA 2026</a:t>
            </a:r>
          </a:p>
        </p:txBody>
      </p:sp>
      <p:sp>
        <p:nvSpPr>
          <p:cNvPr id="13" name="TextBox 12"/>
          <p:cNvSpPr txBox="1"/>
          <p:nvPr/>
        </p:nvSpPr>
        <p:spPr>
          <a:xfrm>
            <a:off x="1371600" y="5029200"/>
            <a:ext cx="9445752" cy="457200"/>
          </a:xfrm>
          <a:prstGeom prst="rect">
            <a:avLst/>
          </a:prstGeom>
          <a:noFill/>
        </p:spPr>
        <p:txBody>
          <a:bodyPr wrap="square">
            <a:spAutoFit/>
          </a:bodyPr>
          <a:lstStyle/>
          <a:p>
            <a:pPr algn="ctr"/>
            <a:r>
              <a:rPr sz="1300" b="0">
                <a:solidFill>
                  <a:srgbClr val="F2F5FA"/>
                </a:solidFill>
              </a:rPr>
              <a:t>Junio 1 – 30, 2026  |  28 publicaciones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685800"/>
          </a:xfrm>
          <a:prstGeom prst="rect">
            <a:avLst/>
          </a:prstGeom>
          <a:noFill/>
        </p:spPr>
        <p:txBody>
          <a:bodyPr wrap="square">
            <a:spAutoFit/>
          </a:bodyPr>
          <a:lstStyle/>
          <a:p>
            <a:pPr algn="l"/>
            <a:r>
              <a:rPr sz="2200" b="1">
                <a:solidFill>
                  <a:srgbClr val="FFFFFF"/>
                </a:solidFill>
              </a:rPr>
              <a:t>ESTRATEGIA DEL MES  —  JUNIO 2026</a:t>
            </a:r>
          </a:p>
        </p:txBody>
      </p:sp>
      <p:sp>
        <p:nvSpPr>
          <p:cNvPr id="4" name="Rectangle 3"/>
          <p:cNvSpPr/>
          <p:nvPr/>
        </p:nvSpPr>
        <p:spPr>
          <a:xfrm>
            <a:off x="365760" y="1188720"/>
            <a:ext cx="3657600" cy="5303520"/>
          </a:xfrm>
          <a:prstGeom prst="rect">
            <a:avLst/>
          </a:prstGeom>
          <a:solidFill>
            <a:srgbClr val="002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474720" cy="731520"/>
          </a:xfrm>
          <a:prstGeom prst="rect">
            <a:avLst/>
          </a:prstGeom>
          <a:noFill/>
        </p:spPr>
        <p:txBody>
          <a:bodyPr wrap="square">
            <a:spAutoFit/>
          </a:bodyPr>
          <a:lstStyle/>
          <a:p>
            <a:pPr algn="ctr"/>
            <a:r>
              <a:rPr sz="3200" b="0">
                <a:solidFill>
                  <a:srgbClr val="FFFFFF"/>
                </a:solidFill>
              </a:rPr>
              <a:t>🎯</a:t>
            </a:r>
          </a:p>
        </p:txBody>
      </p:sp>
      <p:sp>
        <p:nvSpPr>
          <p:cNvPr id="6" name="Rectangle 5"/>
          <p:cNvSpPr/>
          <p:nvPr/>
        </p:nvSpPr>
        <p:spPr>
          <a:xfrm>
            <a:off x="365760" y="2011680"/>
            <a:ext cx="3657600" cy="50292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2D72"/>
                </a:solidFill>
              </a:rPr>
              <a:t>HOOK PRINCIPAL</a:t>
            </a:r>
          </a:p>
        </p:txBody>
      </p:sp>
      <p:sp>
        <p:nvSpPr>
          <p:cNvPr id="7" name="TextBox 6"/>
          <p:cNvSpPr txBox="1"/>
          <p:nvPr/>
        </p:nvSpPr>
        <p:spPr>
          <a:xfrm>
            <a:off x="502920" y="2606040"/>
            <a:ext cx="3383280" cy="3657600"/>
          </a:xfrm>
          <a:prstGeom prst="rect">
            <a:avLst/>
          </a:prstGeom>
          <a:noFill/>
        </p:spPr>
        <p:txBody>
          <a:bodyPr wrap="square">
            <a:spAutoFit/>
          </a:bodyPr>
          <a:lstStyle/>
          <a:p>
            <a:pPr algn="l"/>
            <a:r>
              <a:rPr sz="1300" b="0">
                <a:solidFill>
                  <a:srgbClr val="FFFFFF"/>
                </a:solidFill>
              </a:rPr>
              <a:t>No te quedes con
cara de WHAT
El Mundial se juega
en inglés. ¿Estás listo?</a:t>
            </a:r>
          </a:p>
        </p:txBody>
      </p:sp>
      <p:sp>
        <p:nvSpPr>
          <p:cNvPr id="8" name="Rectangle 7"/>
          <p:cNvSpPr/>
          <p:nvPr/>
        </p:nvSpPr>
        <p:spPr>
          <a:xfrm>
            <a:off x="4160520" y="1188720"/>
            <a:ext cx="3657600" cy="5303520"/>
          </a:xfrm>
          <a:prstGeom prst="rect">
            <a:avLst/>
          </a:prstGeom>
          <a:solidFill>
            <a:srgbClr val="002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59" y="1280160"/>
            <a:ext cx="3474720" cy="731520"/>
          </a:xfrm>
          <a:prstGeom prst="rect">
            <a:avLst/>
          </a:prstGeom>
          <a:noFill/>
        </p:spPr>
        <p:txBody>
          <a:bodyPr wrap="square">
            <a:spAutoFit/>
          </a:bodyPr>
          <a:lstStyle/>
          <a:p>
            <a:pPr algn="ctr"/>
            <a:r>
              <a:rPr sz="3200" b="0">
                <a:solidFill>
                  <a:srgbClr val="FFFFFF"/>
                </a:solidFill>
              </a:rPr>
              <a:t>⚽</a:t>
            </a:r>
          </a:p>
        </p:txBody>
      </p:sp>
      <p:sp>
        <p:nvSpPr>
          <p:cNvPr id="10" name="Rectangle 9"/>
          <p:cNvSpPr/>
          <p:nvPr/>
        </p:nvSpPr>
        <p:spPr>
          <a:xfrm>
            <a:off x="4160520" y="2011680"/>
            <a:ext cx="3657600" cy="50292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2D72"/>
                </a:solidFill>
              </a:rPr>
              <a:t>GANCHO MUNDIAL</a:t>
            </a:r>
          </a:p>
        </p:txBody>
      </p:sp>
      <p:sp>
        <p:nvSpPr>
          <p:cNvPr id="11" name="TextBox 10"/>
          <p:cNvSpPr txBox="1"/>
          <p:nvPr/>
        </p:nvSpPr>
        <p:spPr>
          <a:xfrm>
            <a:off x="4297680" y="2606040"/>
            <a:ext cx="3383280" cy="3657600"/>
          </a:xfrm>
          <a:prstGeom prst="rect">
            <a:avLst/>
          </a:prstGeom>
          <a:noFill/>
        </p:spPr>
        <p:txBody>
          <a:bodyPr wrap="square">
            <a:spAutoFit/>
          </a:bodyPr>
          <a:lstStyle/>
          <a:p>
            <a:pPr algn="l"/>
            <a:r>
              <a:rPr sz="1300" b="0">
                <a:solidFill>
                  <a:srgbClr val="FFFFFF"/>
                </a:solidFill>
              </a:rPr>
              <a:t>FIFA World Cup 2026
arrancan el 11 de junio
en México, USA y Canadá.
¡Capitalizamos el hype!</a:t>
            </a:r>
          </a:p>
        </p:txBody>
      </p:sp>
      <p:sp>
        <p:nvSpPr>
          <p:cNvPr id="12" name="Rectangle 11"/>
          <p:cNvSpPr/>
          <p:nvPr/>
        </p:nvSpPr>
        <p:spPr>
          <a:xfrm>
            <a:off x="7955279" y="1188720"/>
            <a:ext cx="3657600" cy="5303520"/>
          </a:xfrm>
          <a:prstGeom prst="rect">
            <a:avLst/>
          </a:prstGeom>
          <a:solidFill>
            <a:srgbClr val="002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1280160"/>
            <a:ext cx="3474720" cy="731520"/>
          </a:xfrm>
          <a:prstGeom prst="rect">
            <a:avLst/>
          </a:prstGeom>
          <a:noFill/>
        </p:spPr>
        <p:txBody>
          <a:bodyPr wrap="square">
            <a:spAutoFit/>
          </a:bodyPr>
          <a:lstStyle/>
          <a:p>
            <a:pPr algn="ctr"/>
            <a:r>
              <a:rPr sz="3200" b="0">
                <a:solidFill>
                  <a:srgbClr val="FFFFFF"/>
                </a:solidFill>
              </a:rPr>
              <a:t>📈</a:t>
            </a:r>
          </a:p>
        </p:txBody>
      </p:sp>
      <p:sp>
        <p:nvSpPr>
          <p:cNvPr id="14" name="Rectangle 13"/>
          <p:cNvSpPr/>
          <p:nvPr/>
        </p:nvSpPr>
        <p:spPr>
          <a:xfrm>
            <a:off x="7955279" y="2011680"/>
            <a:ext cx="3657600" cy="50292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2D72"/>
                </a:solidFill>
              </a:rPr>
              <a:t>OBJETIVO</a:t>
            </a:r>
          </a:p>
        </p:txBody>
      </p:sp>
      <p:sp>
        <p:nvSpPr>
          <p:cNvPr id="15" name="TextBox 14"/>
          <p:cNvSpPr txBox="1"/>
          <p:nvPr/>
        </p:nvSpPr>
        <p:spPr>
          <a:xfrm>
            <a:off x="8092440" y="2606040"/>
            <a:ext cx="3383280" cy="3657600"/>
          </a:xfrm>
          <a:prstGeom prst="rect">
            <a:avLst/>
          </a:prstGeom>
          <a:noFill/>
        </p:spPr>
        <p:txBody>
          <a:bodyPr wrap="square">
            <a:spAutoFit/>
          </a:bodyPr>
          <a:lstStyle/>
          <a:p>
            <a:pPr algn="l"/>
            <a:r>
              <a:rPr sz="1300" b="0">
                <a:solidFill>
                  <a:srgbClr val="FFFFFF"/>
                </a:solidFill>
              </a:rPr>
              <a:t>Posicionar Inglés YA
como LA solución para
entender el Mundial
y crecer profesionalmente</a:t>
            </a:r>
          </a:p>
        </p:txBody>
      </p:sp>
      <p:sp>
        <p:nvSpPr>
          <p:cNvPr id="16" name="Rectangle 15"/>
          <p:cNvSpPr/>
          <p:nvPr/>
        </p:nvSpPr>
        <p:spPr>
          <a:xfrm>
            <a:off x="365760" y="6309360"/>
            <a:ext cx="11457432" cy="36576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rPr>
              <a:t>FORMATOS: 🖼 Estático  |  🎠 Carrusel  |  🎬 Reel  |  📱 Story/Poll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02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7315200" cy="457200"/>
          </a:xfrm>
          <a:prstGeom prst="rect">
            <a:avLst/>
          </a:prstGeom>
          <a:noFill/>
        </p:spPr>
        <p:txBody>
          <a:bodyPr wrap="square">
            <a:spAutoFit/>
          </a:bodyPr>
          <a:lstStyle/>
          <a:p>
            <a:pPr algn="l"/>
            <a:r>
              <a:rPr sz="1400" b="1">
                <a:solidFill>
                  <a:srgbClr val="FFFFFF"/>
                </a:solidFill>
              </a:rPr>
              <a:t>SEMANA 1  ·  1 – 7 de junio</a:t>
            </a:r>
          </a:p>
        </p:txBody>
      </p:sp>
      <p:sp>
        <p:nvSpPr>
          <p:cNvPr id="4" name="Rectangle 3"/>
          <p:cNvSpPr/>
          <p:nvPr/>
        </p:nvSpPr>
        <p:spPr>
          <a:xfrm>
            <a:off x="320040" y="502920"/>
            <a:ext cx="50292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2D72"/>
                </a:solidFill>
              </a:rPr>
              <a:t>⚡ CALENTAMIENTO PRE-MUNDIAL  |  Hype + Curiosidad</a:t>
            </a:r>
          </a:p>
        </p:txBody>
      </p:sp>
      <p:sp>
        <p:nvSpPr>
          <p:cNvPr id="5" name="Rectangle 4"/>
          <p:cNvSpPr/>
          <p:nvPr/>
        </p:nvSpPr>
        <p:spPr>
          <a:xfrm>
            <a:off x="8046720" y="594360"/>
            <a:ext cx="960120" cy="25603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Estático</a:t>
            </a:r>
          </a:p>
        </p:txBody>
      </p:sp>
      <p:sp>
        <p:nvSpPr>
          <p:cNvPr id="6" name="Rectangle 5"/>
          <p:cNvSpPr/>
          <p:nvPr/>
        </p:nvSpPr>
        <p:spPr>
          <a:xfrm>
            <a:off x="9034272" y="594360"/>
            <a:ext cx="960120" cy="256032"/>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Carrusel</a:t>
            </a:r>
          </a:p>
        </p:txBody>
      </p:sp>
      <p:sp>
        <p:nvSpPr>
          <p:cNvPr id="7" name="Rectangle 6"/>
          <p:cNvSpPr/>
          <p:nvPr/>
        </p:nvSpPr>
        <p:spPr>
          <a:xfrm>
            <a:off x="10021824" y="594360"/>
            <a:ext cx="960120" cy="256032"/>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Reel</a:t>
            </a:r>
          </a:p>
        </p:txBody>
      </p:sp>
      <p:sp>
        <p:nvSpPr>
          <p:cNvPr id="8" name="Rectangle 7"/>
          <p:cNvSpPr/>
          <p:nvPr/>
        </p:nvSpPr>
        <p:spPr>
          <a:xfrm>
            <a:off x="11009376" y="594360"/>
            <a:ext cx="960120" cy="25603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Story</a:t>
            </a:r>
          </a:p>
        </p:txBody>
      </p:sp>
      <p:sp>
        <p:nvSpPr>
          <p:cNvPr id="9" name="Rectangle 8"/>
          <p:cNvSpPr/>
          <p:nvPr/>
        </p:nvSpPr>
        <p:spPr>
          <a:xfrm>
            <a:off x="320040" y="1078992"/>
            <a:ext cx="2240280" cy="5486400"/>
          </a:xfrm>
          <a:prstGeom prst="rect">
            <a:avLst/>
          </a:prstGeom>
          <a:solidFill>
            <a:srgbClr val="FFFFFF"/>
          </a:solidFill>
          <a:ln w="19050">
            <a:solidFill>
              <a:srgbClr val="00B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78992"/>
            <a:ext cx="2240280" cy="384048"/>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Reel  ·  LUN 2 JUN</a:t>
            </a:r>
          </a:p>
        </p:txBody>
      </p:sp>
      <p:sp>
        <p:nvSpPr>
          <p:cNvPr id="11" name="Rectangle 10"/>
          <p:cNvSpPr/>
          <p:nvPr/>
        </p:nvSpPr>
        <p:spPr>
          <a:xfrm>
            <a:off x="365759"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¿Sabes qué significa OFFSIDE? 😅</a:t>
            </a:r>
          </a:p>
        </p:txBody>
      </p:sp>
      <p:sp>
        <p:nvSpPr>
          <p:cNvPr id="12" name="TextBox 11"/>
          <p:cNvSpPr txBox="1"/>
          <p:nvPr/>
        </p:nvSpPr>
        <p:spPr>
          <a:xfrm>
            <a:off x="411479" y="2542032"/>
            <a:ext cx="2103120" cy="2926080"/>
          </a:xfrm>
          <a:prstGeom prst="rect">
            <a:avLst/>
          </a:prstGeom>
          <a:noFill/>
        </p:spPr>
        <p:txBody>
          <a:bodyPr wrap="square">
            <a:spAutoFit/>
          </a:bodyPr>
          <a:lstStyle/>
          <a:p>
            <a:pPr algn="l"/>
            <a:r>
              <a:rPr sz="1000" b="0">
                <a:solidFill>
                  <a:srgbClr val="444455"/>
                </a:solidFill>
              </a:rPr>
              <a:t>Arranca con humor.
Muestra a alguien viendo el partido con cara confundida cuando el árbitro dice 'offside'.
Hook: '¿Cuántas veces has escuchado esto y no has entendido nada?'
Explica offside, foul, penalty, handball en 30 segundos.</a:t>
            </a:r>
          </a:p>
        </p:txBody>
      </p:sp>
      <p:sp>
        <p:nvSpPr>
          <p:cNvPr id="13" name="Rectangle 12"/>
          <p:cNvSpPr/>
          <p:nvPr/>
        </p:nvSpPr>
        <p:spPr>
          <a:xfrm>
            <a:off x="365759" y="5925312"/>
            <a:ext cx="2148840" cy="41148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Síguenos para aprender más</a:t>
            </a:r>
          </a:p>
        </p:txBody>
      </p:sp>
      <p:sp>
        <p:nvSpPr>
          <p:cNvPr id="14" name="Rectangle 13"/>
          <p:cNvSpPr/>
          <p:nvPr/>
        </p:nvSpPr>
        <p:spPr>
          <a:xfrm>
            <a:off x="2679192" y="1078992"/>
            <a:ext cx="2240280" cy="5486400"/>
          </a:xfrm>
          <a:prstGeom prst="rect">
            <a:avLst/>
          </a:prstGeom>
          <a:solidFill>
            <a:srgbClr val="FFFFFF"/>
          </a:solidFill>
          <a:ln w="19050">
            <a:solidFill>
              <a:srgbClr val="7B2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79192" y="1078992"/>
            <a:ext cx="2240280" cy="384048"/>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Carrusel  ·  MIÉ 4 JUN</a:t>
            </a:r>
          </a:p>
        </p:txBody>
      </p:sp>
      <p:sp>
        <p:nvSpPr>
          <p:cNvPr id="16" name="Rectangle 15"/>
          <p:cNvSpPr/>
          <p:nvPr/>
        </p:nvSpPr>
        <p:spPr>
          <a:xfrm>
            <a:off x="2724912"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10 palabras del fútbol que TODOS dicen en inglés</a:t>
            </a:r>
          </a:p>
        </p:txBody>
      </p:sp>
      <p:sp>
        <p:nvSpPr>
          <p:cNvPr id="17" name="TextBox 16"/>
          <p:cNvSpPr txBox="1"/>
          <p:nvPr/>
        </p:nvSpPr>
        <p:spPr>
          <a:xfrm>
            <a:off x="2770632" y="2542032"/>
            <a:ext cx="2103120" cy="2926080"/>
          </a:xfrm>
          <a:prstGeom prst="rect">
            <a:avLst/>
          </a:prstGeom>
          <a:noFill/>
        </p:spPr>
        <p:txBody>
          <a:bodyPr wrap="square">
            <a:spAutoFit/>
          </a:bodyPr>
          <a:lstStyle/>
          <a:p>
            <a:pPr algn="l"/>
            <a:r>
              <a:rPr sz="1000" b="0">
                <a:solidFill>
                  <a:srgbClr val="444455"/>
                </a:solidFill>
              </a:rPr>
              <a:t>Slide 1: '¿Hablas fútbol en inglés sin saberlo?'
Slides 2-9: Goal / Penalty / Corner / Offside / Goalkeeper / Striker / Foul / Referee
Slide 10: 'Ya dominas el fútbol. Ahora domina el inglés 💪'
Fondo azul de marca, una palabra por slide con ilustración simple.</a:t>
            </a:r>
          </a:p>
        </p:txBody>
      </p:sp>
      <p:sp>
        <p:nvSpPr>
          <p:cNvPr id="18" name="Rectangle 17"/>
          <p:cNvSpPr/>
          <p:nvPr/>
        </p:nvSpPr>
        <p:spPr>
          <a:xfrm>
            <a:off x="2724912" y="5925312"/>
            <a:ext cx="2148840" cy="411480"/>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¿Cuál no sabías? Comenta</a:t>
            </a:r>
          </a:p>
        </p:txBody>
      </p:sp>
      <p:sp>
        <p:nvSpPr>
          <p:cNvPr id="19" name="Rectangle 18"/>
          <p:cNvSpPr/>
          <p:nvPr/>
        </p:nvSpPr>
        <p:spPr>
          <a:xfrm>
            <a:off x="5038344" y="1078992"/>
            <a:ext cx="2240280" cy="54864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38344" y="1078992"/>
            <a:ext cx="224028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Estático  ·  VIE 6 JUN</a:t>
            </a:r>
          </a:p>
        </p:txBody>
      </p:sp>
      <p:sp>
        <p:nvSpPr>
          <p:cNvPr id="21" name="Rectangle 20"/>
          <p:cNvSpPr/>
          <p:nvPr/>
        </p:nvSpPr>
        <p:spPr>
          <a:xfrm>
            <a:off x="5084064"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 5 días para el Mundial 2026</a:t>
            </a:r>
          </a:p>
        </p:txBody>
      </p:sp>
      <p:sp>
        <p:nvSpPr>
          <p:cNvPr id="22" name="TextBox 21"/>
          <p:cNvSpPr txBox="1"/>
          <p:nvPr/>
        </p:nvSpPr>
        <p:spPr>
          <a:xfrm>
            <a:off x="5129783" y="2542032"/>
            <a:ext cx="2103120" cy="2926080"/>
          </a:xfrm>
          <a:prstGeom prst="rect">
            <a:avLst/>
          </a:prstGeom>
          <a:noFill/>
        </p:spPr>
        <p:txBody>
          <a:bodyPr wrap="square">
            <a:spAutoFit/>
          </a:bodyPr>
          <a:lstStyle/>
          <a:p>
            <a:pPr algn="l"/>
            <a:r>
              <a:rPr sz="1000" b="0">
                <a:solidFill>
                  <a:srgbClr val="444455"/>
                </a:solidFill>
              </a:rPr>
              <a:t>Diseño tipo cuenta regresiva.
Texto: 'Faltan 5 días para el Mundial y los partidos se comentan EN INGLÉS en todo el mundo.'
Subtexto: '¿Tú también vas a quedarte con cara de WHAT? 👀'
CTA visual a Inglés YA.</a:t>
            </a:r>
          </a:p>
        </p:txBody>
      </p:sp>
      <p:sp>
        <p:nvSpPr>
          <p:cNvPr id="23" name="Rectangle 22"/>
          <p:cNvSpPr/>
          <p:nvPr/>
        </p:nvSpPr>
        <p:spPr>
          <a:xfrm>
            <a:off x="5084064" y="5925312"/>
            <a:ext cx="2148840" cy="41148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Activa notificaciones</a:t>
            </a:r>
          </a:p>
        </p:txBody>
      </p:sp>
      <p:sp>
        <p:nvSpPr>
          <p:cNvPr id="24" name="Rectangle 23"/>
          <p:cNvSpPr/>
          <p:nvPr/>
        </p:nvSpPr>
        <p:spPr>
          <a:xfrm>
            <a:off x="7397496" y="1078992"/>
            <a:ext cx="2240280" cy="5486400"/>
          </a:xfrm>
          <a:prstGeom prst="rect">
            <a:avLst/>
          </a:prstGeom>
          <a:solidFill>
            <a:srgbClr val="FFFFFF"/>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7496" y="1078992"/>
            <a:ext cx="2240280" cy="3840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Story  ·  SÁB 7 JUN</a:t>
            </a:r>
          </a:p>
        </p:txBody>
      </p:sp>
      <p:sp>
        <p:nvSpPr>
          <p:cNvPr id="26" name="Rectangle 25"/>
          <p:cNvSpPr/>
          <p:nvPr/>
        </p:nvSpPr>
        <p:spPr>
          <a:xfrm>
            <a:off x="7443216"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POLL: ¿Entiendes el inglés en los partidos?</a:t>
            </a:r>
          </a:p>
        </p:txBody>
      </p:sp>
      <p:sp>
        <p:nvSpPr>
          <p:cNvPr id="27" name="TextBox 26"/>
          <p:cNvSpPr txBox="1"/>
          <p:nvPr/>
        </p:nvSpPr>
        <p:spPr>
          <a:xfrm>
            <a:off x="7488936" y="2542032"/>
            <a:ext cx="2103120" cy="2926080"/>
          </a:xfrm>
          <a:prstGeom prst="rect">
            <a:avLst/>
          </a:prstGeom>
          <a:noFill/>
        </p:spPr>
        <p:txBody>
          <a:bodyPr wrap="square">
            <a:spAutoFit/>
          </a:bodyPr>
          <a:lstStyle/>
          <a:p>
            <a:pPr algn="l"/>
            <a:r>
              <a:rPr sz="1000" b="0">
                <a:solidFill>
                  <a:srgbClr val="444455"/>
                </a:solidFill>
              </a:rPr>
              <a:t>Story con encuesta:
❓ '¿Cuánto entiendes cuando los comentaristas hablan en inglés?'
Opción A: 'Todo 🤓'
Opción B: 'Algo 😅'
Opción C: 'Nada (cara de WHAT) 😂'
Seguimiento: pantalla de resultados + 'Si votaste B o C, tenemos algo para ti 👇'</a:t>
            </a:r>
          </a:p>
        </p:txBody>
      </p:sp>
      <p:sp>
        <p:nvSpPr>
          <p:cNvPr id="28" name="Rectangle 27"/>
          <p:cNvSpPr/>
          <p:nvPr/>
        </p:nvSpPr>
        <p:spPr>
          <a:xfrm>
            <a:off x="7443216" y="5925312"/>
            <a:ext cx="2148840" cy="41148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Responde la encuesta</a:t>
            </a:r>
          </a:p>
        </p:txBody>
      </p:sp>
      <p:sp>
        <p:nvSpPr>
          <p:cNvPr id="29" name="Rectangle 28"/>
          <p:cNvSpPr/>
          <p:nvPr/>
        </p:nvSpPr>
        <p:spPr>
          <a:xfrm>
            <a:off x="9756648" y="1078992"/>
            <a:ext cx="2240280" cy="5486400"/>
          </a:xfrm>
          <a:prstGeom prst="rect">
            <a:avLst/>
          </a:prstGeom>
          <a:solidFill>
            <a:srgbClr val="FFFFFF"/>
          </a:solidFill>
          <a:ln w="19050">
            <a:solidFill>
              <a:srgbClr val="00B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56648" y="1078992"/>
            <a:ext cx="2240280" cy="384048"/>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Reel  ·  DOM 8 JUN</a:t>
            </a:r>
          </a:p>
        </p:txBody>
      </p:sp>
      <p:sp>
        <p:nvSpPr>
          <p:cNvPr id="31" name="Rectangle 30"/>
          <p:cNvSpPr/>
          <p:nvPr/>
        </p:nvSpPr>
        <p:spPr>
          <a:xfrm>
            <a:off x="9802368"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Así gritan GOL en 5 países (en inglés)</a:t>
            </a:r>
          </a:p>
        </p:txBody>
      </p:sp>
      <p:sp>
        <p:nvSpPr>
          <p:cNvPr id="32" name="TextBox 31"/>
          <p:cNvSpPr txBox="1"/>
          <p:nvPr/>
        </p:nvSpPr>
        <p:spPr>
          <a:xfrm>
            <a:off x="9848088" y="2542032"/>
            <a:ext cx="2103120" cy="2926080"/>
          </a:xfrm>
          <a:prstGeom prst="rect">
            <a:avLst/>
          </a:prstGeom>
          <a:noFill/>
        </p:spPr>
        <p:txBody>
          <a:bodyPr wrap="square">
            <a:spAutoFit/>
          </a:bodyPr>
          <a:lstStyle/>
          <a:p>
            <a:pPr algn="l"/>
            <a:r>
              <a:rPr sz="1000" b="0">
                <a:solidFill>
                  <a:srgbClr val="444455"/>
                </a:solidFill>
              </a:rPr>
              <a:t>Reel viral de entretenimiento.
Muestra cómo celebran en:
🇺🇸 USA, 🏴󠁧󠁢󠁥󠁮󠁧󠁿 UK, 🇦🇺 Australia, 🇨🇦 Canadá, 🇮🇳 India
Frases reales de fanáticos.
Hook final: 'En México decimos GOL... en inglés dicen GOAAAAAL 🤣'
CTA a bio de Inglés YA.</a:t>
            </a:r>
          </a:p>
        </p:txBody>
      </p:sp>
      <p:sp>
        <p:nvSpPr>
          <p:cNvPr id="33" name="Rectangle 32"/>
          <p:cNvSpPr/>
          <p:nvPr/>
        </p:nvSpPr>
        <p:spPr>
          <a:xfrm>
            <a:off x="9802368" y="5925312"/>
            <a:ext cx="2148840" cy="41148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Comparte con tus amigos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7315200" cy="457200"/>
          </a:xfrm>
          <a:prstGeom prst="rect">
            <a:avLst/>
          </a:prstGeom>
          <a:noFill/>
        </p:spPr>
        <p:txBody>
          <a:bodyPr wrap="square">
            <a:spAutoFit/>
          </a:bodyPr>
          <a:lstStyle/>
          <a:p>
            <a:pPr algn="l"/>
            <a:r>
              <a:rPr sz="1400" b="1">
                <a:solidFill>
                  <a:srgbClr val="FFFFFF"/>
                </a:solidFill>
              </a:rPr>
              <a:t>SEMANA 2  ·  8 – 14 de junio</a:t>
            </a:r>
          </a:p>
        </p:txBody>
      </p:sp>
      <p:sp>
        <p:nvSpPr>
          <p:cNvPr id="4" name="Rectangle 3"/>
          <p:cNvSpPr/>
          <p:nvPr/>
        </p:nvSpPr>
        <p:spPr>
          <a:xfrm>
            <a:off x="320040" y="502920"/>
            <a:ext cx="50292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B05A"/>
                </a:solidFill>
              </a:rPr>
              <a:t>⚽ ARRANQUE DEL MUNDIAL  |  11 Junio — It's GAME TIME!</a:t>
            </a:r>
          </a:p>
        </p:txBody>
      </p:sp>
      <p:sp>
        <p:nvSpPr>
          <p:cNvPr id="5" name="Rectangle 4"/>
          <p:cNvSpPr/>
          <p:nvPr/>
        </p:nvSpPr>
        <p:spPr>
          <a:xfrm>
            <a:off x="8046720" y="594360"/>
            <a:ext cx="960120" cy="25603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Estático</a:t>
            </a:r>
          </a:p>
        </p:txBody>
      </p:sp>
      <p:sp>
        <p:nvSpPr>
          <p:cNvPr id="6" name="Rectangle 5"/>
          <p:cNvSpPr/>
          <p:nvPr/>
        </p:nvSpPr>
        <p:spPr>
          <a:xfrm>
            <a:off x="9034272" y="594360"/>
            <a:ext cx="960120" cy="256032"/>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Carrusel</a:t>
            </a:r>
          </a:p>
        </p:txBody>
      </p:sp>
      <p:sp>
        <p:nvSpPr>
          <p:cNvPr id="7" name="Rectangle 6"/>
          <p:cNvSpPr/>
          <p:nvPr/>
        </p:nvSpPr>
        <p:spPr>
          <a:xfrm>
            <a:off x="10021824" y="594360"/>
            <a:ext cx="960120" cy="256032"/>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Reel</a:t>
            </a:r>
          </a:p>
        </p:txBody>
      </p:sp>
      <p:sp>
        <p:nvSpPr>
          <p:cNvPr id="8" name="Rectangle 7"/>
          <p:cNvSpPr/>
          <p:nvPr/>
        </p:nvSpPr>
        <p:spPr>
          <a:xfrm>
            <a:off x="11009376" y="594360"/>
            <a:ext cx="960120" cy="25603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Story</a:t>
            </a:r>
          </a:p>
        </p:txBody>
      </p:sp>
      <p:sp>
        <p:nvSpPr>
          <p:cNvPr id="9" name="Rectangle 8"/>
          <p:cNvSpPr/>
          <p:nvPr/>
        </p:nvSpPr>
        <p:spPr>
          <a:xfrm>
            <a:off x="320040" y="1078992"/>
            <a:ext cx="2240280" cy="54864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78992"/>
            <a:ext cx="224028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Estático  ·  LUN 9 JUN</a:t>
            </a:r>
          </a:p>
        </p:txBody>
      </p:sp>
      <p:sp>
        <p:nvSpPr>
          <p:cNvPr id="11" name="Rectangle 10"/>
          <p:cNvSpPr/>
          <p:nvPr/>
        </p:nvSpPr>
        <p:spPr>
          <a:xfrm>
            <a:off x="365759"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2 días para el Mundial. Last call 🚨</a:t>
            </a:r>
          </a:p>
        </p:txBody>
      </p:sp>
      <p:sp>
        <p:nvSpPr>
          <p:cNvPr id="12" name="TextBox 11"/>
          <p:cNvSpPr txBox="1"/>
          <p:nvPr/>
        </p:nvSpPr>
        <p:spPr>
          <a:xfrm>
            <a:off x="411479" y="2542032"/>
            <a:ext cx="2103120" cy="2926080"/>
          </a:xfrm>
          <a:prstGeom prst="rect">
            <a:avLst/>
          </a:prstGeom>
          <a:noFill/>
        </p:spPr>
        <p:txBody>
          <a:bodyPr wrap="square">
            <a:spAutoFit/>
          </a:bodyPr>
          <a:lstStyle/>
          <a:p>
            <a:pPr algn="l"/>
            <a:r>
              <a:rPr sz="1000" b="0">
                <a:solidFill>
                  <a:srgbClr val="444455"/>
                </a:solidFill>
              </a:rPr>
              <a:t>Urgencia pre-evento.
Texto: 'El Mundial 2026 arranca en 2 días. Se juega en México, USA y Canadá. Los árbitros hablan inglés. Los jugadores hablan inglés. Los estadios están en inglés.'
'¿Y tú? 👀'
Diseño rojo/urgencia con logo Inglés YA.</a:t>
            </a:r>
          </a:p>
        </p:txBody>
      </p:sp>
      <p:sp>
        <p:nvSpPr>
          <p:cNvPr id="13" name="Rectangle 12"/>
          <p:cNvSpPr/>
          <p:nvPr/>
        </p:nvSpPr>
        <p:spPr>
          <a:xfrm>
            <a:off x="365759" y="5925312"/>
            <a:ext cx="2148840" cy="41148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DM para info</a:t>
            </a:r>
          </a:p>
        </p:txBody>
      </p:sp>
      <p:sp>
        <p:nvSpPr>
          <p:cNvPr id="14" name="Rectangle 13"/>
          <p:cNvSpPr/>
          <p:nvPr/>
        </p:nvSpPr>
        <p:spPr>
          <a:xfrm>
            <a:off x="2679192" y="1078992"/>
            <a:ext cx="2240280" cy="5486400"/>
          </a:xfrm>
          <a:prstGeom prst="rect">
            <a:avLst/>
          </a:prstGeom>
          <a:solidFill>
            <a:srgbClr val="FFFFFF"/>
          </a:solidFill>
          <a:ln w="19050">
            <a:solidFill>
              <a:srgbClr val="00B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79192" y="1078992"/>
            <a:ext cx="2240280" cy="384048"/>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Reel  ·  MIÉ 11 JUN</a:t>
            </a:r>
          </a:p>
        </p:txBody>
      </p:sp>
      <p:sp>
        <p:nvSpPr>
          <p:cNvPr id="16" name="Rectangle 15"/>
          <p:cNvSpPr/>
          <p:nvPr/>
        </p:nvSpPr>
        <p:spPr>
          <a:xfrm>
            <a:off x="2724912"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 HOY ARRANCA EL MUNDIAL</a:t>
            </a:r>
          </a:p>
        </p:txBody>
      </p:sp>
      <p:sp>
        <p:nvSpPr>
          <p:cNvPr id="17" name="TextBox 16"/>
          <p:cNvSpPr txBox="1"/>
          <p:nvPr/>
        </p:nvSpPr>
        <p:spPr>
          <a:xfrm>
            <a:off x="2770632" y="2542032"/>
            <a:ext cx="2103120" cy="2926080"/>
          </a:xfrm>
          <a:prstGeom prst="rect">
            <a:avLst/>
          </a:prstGeom>
          <a:noFill/>
        </p:spPr>
        <p:txBody>
          <a:bodyPr wrap="square">
            <a:spAutoFit/>
          </a:bodyPr>
          <a:lstStyle/>
          <a:p>
            <a:pPr algn="l"/>
            <a:r>
              <a:rPr sz="1000" b="0">
                <a:solidFill>
                  <a:srgbClr val="444455"/>
                </a:solidFill>
              </a:rPr>
              <a:t>⭐ POST ESTRELLA DEL MES
Reel especial día 1:
Hook: 'Hoy arranca el Mundial 2026... y todos los partidos se juegan en inglés'
Mostrar: señalizaciones en inglés, entrevistas en inglés, pantallas de estadios.
'No te quedes con cara de WHAT. Aprende inglés con Inglés YA y vívelo completo.'
Música épica + gráficas de estadios sede (CDMX, GDL, MTY).</a:t>
            </a:r>
          </a:p>
        </p:txBody>
      </p:sp>
      <p:sp>
        <p:nvSpPr>
          <p:cNvPr id="18" name="Rectangle 17"/>
          <p:cNvSpPr/>
          <p:nvPr/>
        </p:nvSpPr>
        <p:spPr>
          <a:xfrm>
            <a:off x="2724912" y="5925312"/>
            <a:ext cx="2148840" cy="41148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Link en bio — Clase gratis hoy</a:t>
            </a:r>
          </a:p>
        </p:txBody>
      </p:sp>
      <p:sp>
        <p:nvSpPr>
          <p:cNvPr id="19" name="Rectangle 18"/>
          <p:cNvSpPr/>
          <p:nvPr/>
        </p:nvSpPr>
        <p:spPr>
          <a:xfrm>
            <a:off x="5038344" y="1078992"/>
            <a:ext cx="2240280" cy="5486400"/>
          </a:xfrm>
          <a:prstGeom prst="rect">
            <a:avLst/>
          </a:prstGeom>
          <a:solidFill>
            <a:srgbClr val="FFFFFF"/>
          </a:solidFill>
          <a:ln w="19050">
            <a:solidFill>
              <a:srgbClr val="7B2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38344" y="1078992"/>
            <a:ext cx="2240280" cy="384048"/>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Carrusel  ·  JUE 12 JUN</a:t>
            </a:r>
          </a:p>
        </p:txBody>
      </p:sp>
      <p:sp>
        <p:nvSpPr>
          <p:cNvPr id="21" name="Rectangle 20"/>
          <p:cNvSpPr/>
          <p:nvPr/>
        </p:nvSpPr>
        <p:spPr>
          <a:xfrm>
            <a:off x="5084064"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Lo que dijeron ayer en inglés (y qué significa)</a:t>
            </a:r>
          </a:p>
        </p:txBody>
      </p:sp>
      <p:sp>
        <p:nvSpPr>
          <p:cNvPr id="22" name="TextBox 21"/>
          <p:cNvSpPr txBox="1"/>
          <p:nvPr/>
        </p:nvSpPr>
        <p:spPr>
          <a:xfrm>
            <a:off x="5129783" y="2542032"/>
            <a:ext cx="2103120" cy="2926080"/>
          </a:xfrm>
          <a:prstGeom prst="rect">
            <a:avLst/>
          </a:prstGeom>
          <a:noFill/>
        </p:spPr>
        <p:txBody>
          <a:bodyPr wrap="square">
            <a:spAutoFit/>
          </a:bodyPr>
          <a:lstStyle/>
          <a:p>
            <a:pPr algn="l"/>
            <a:r>
              <a:rPr sz="1000" b="0">
                <a:solidFill>
                  <a:srgbClr val="444455"/>
                </a:solidFill>
              </a:rPr>
              <a:t>Reacciona al partido del día anterior.
Slide 1: 'Esto escuchaste ayer en el partido... ¿lo entendiste?'
Slides 2-6: Frases reales de comentaristas + traducción + contexto:
- 'That was a clinical finish'
- 'He's put it on a plate'
- 'They're sitting deep'
- 'Game on!'
Slide final: CTA a Inglés YA.</a:t>
            </a:r>
          </a:p>
        </p:txBody>
      </p:sp>
      <p:sp>
        <p:nvSpPr>
          <p:cNvPr id="23" name="Rectangle 22"/>
          <p:cNvSpPr/>
          <p:nvPr/>
        </p:nvSpPr>
        <p:spPr>
          <a:xfrm>
            <a:off x="5084064" y="5925312"/>
            <a:ext cx="2148840" cy="411480"/>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¿Cuál no sabías?</a:t>
            </a:r>
          </a:p>
        </p:txBody>
      </p:sp>
      <p:sp>
        <p:nvSpPr>
          <p:cNvPr id="24" name="Rectangle 23"/>
          <p:cNvSpPr/>
          <p:nvPr/>
        </p:nvSpPr>
        <p:spPr>
          <a:xfrm>
            <a:off x="7397496" y="1078992"/>
            <a:ext cx="2240280" cy="5486400"/>
          </a:xfrm>
          <a:prstGeom prst="rect">
            <a:avLst/>
          </a:prstGeom>
          <a:solidFill>
            <a:srgbClr val="FFFFFF"/>
          </a:solidFill>
          <a:ln w="19050">
            <a:solidFill>
              <a:srgbClr val="00B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7496" y="1078992"/>
            <a:ext cx="2240280" cy="384048"/>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Reel  ·  VIE 13 JUN</a:t>
            </a:r>
          </a:p>
        </p:txBody>
      </p:sp>
      <p:sp>
        <p:nvSpPr>
          <p:cNvPr id="26" name="Rectangle 25"/>
          <p:cNvSpPr/>
          <p:nvPr/>
        </p:nvSpPr>
        <p:spPr>
          <a:xfrm>
            <a:off x="7443216"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La cara de WHAT — Meme oficial 😂</a:t>
            </a:r>
          </a:p>
        </p:txBody>
      </p:sp>
      <p:sp>
        <p:nvSpPr>
          <p:cNvPr id="27" name="TextBox 26"/>
          <p:cNvSpPr txBox="1"/>
          <p:nvPr/>
        </p:nvSpPr>
        <p:spPr>
          <a:xfrm>
            <a:off x="7488936" y="2542032"/>
            <a:ext cx="2103120" cy="2926080"/>
          </a:xfrm>
          <a:prstGeom prst="rect">
            <a:avLst/>
          </a:prstGeom>
          <a:noFill/>
        </p:spPr>
        <p:txBody>
          <a:bodyPr wrap="square">
            <a:spAutoFit/>
          </a:bodyPr>
          <a:lstStyle/>
          <a:p>
            <a:pPr algn="l"/>
            <a:r>
              <a:rPr sz="1000" b="0">
                <a:solidFill>
                  <a:srgbClr val="444455"/>
                </a:solidFill>
              </a:rPr>
              <a:t>Reel humor / viral.
Haz el meme del mes: alguien viendo el partido, el comentarista dice algo en inglés, persona pone cara de 'WHAT'.
Subtítulo: 'Nosotros antes de Inglés YA vs. después'
Segunda parte: misma persona, pero ahora entiende todo y lo celebra.
Potencial viral alto. Usa el sonido de 'confused' viral de TikTok/Reels.</a:t>
            </a:r>
          </a:p>
        </p:txBody>
      </p:sp>
      <p:sp>
        <p:nvSpPr>
          <p:cNvPr id="28" name="Rectangle 27"/>
          <p:cNvSpPr/>
          <p:nvPr/>
        </p:nvSpPr>
        <p:spPr>
          <a:xfrm>
            <a:off x="7443216" y="5925312"/>
            <a:ext cx="2148840" cy="41148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Etiqueta a alguien con cara de WHAT</a:t>
            </a:r>
          </a:p>
        </p:txBody>
      </p:sp>
      <p:sp>
        <p:nvSpPr>
          <p:cNvPr id="29" name="Rectangle 28"/>
          <p:cNvSpPr/>
          <p:nvPr/>
        </p:nvSpPr>
        <p:spPr>
          <a:xfrm>
            <a:off x="9756648" y="1078992"/>
            <a:ext cx="2240280" cy="5486400"/>
          </a:xfrm>
          <a:prstGeom prst="rect">
            <a:avLst/>
          </a:prstGeom>
          <a:solidFill>
            <a:srgbClr val="FFFFFF"/>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56648" y="1078992"/>
            <a:ext cx="2240280" cy="3840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Story  ·  SÁB 14 JUN</a:t>
            </a:r>
          </a:p>
        </p:txBody>
      </p:sp>
      <p:sp>
        <p:nvSpPr>
          <p:cNvPr id="31" name="Rectangle 30"/>
          <p:cNvSpPr/>
          <p:nvPr/>
        </p:nvSpPr>
        <p:spPr>
          <a:xfrm>
            <a:off x="9802368"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Quiz: ¿Qué dijo el árbitro?</a:t>
            </a:r>
          </a:p>
        </p:txBody>
      </p:sp>
      <p:sp>
        <p:nvSpPr>
          <p:cNvPr id="32" name="TextBox 31"/>
          <p:cNvSpPr txBox="1"/>
          <p:nvPr/>
        </p:nvSpPr>
        <p:spPr>
          <a:xfrm>
            <a:off x="9848088" y="2542032"/>
            <a:ext cx="2103120" cy="2926080"/>
          </a:xfrm>
          <a:prstGeom prst="rect">
            <a:avLst/>
          </a:prstGeom>
          <a:noFill/>
        </p:spPr>
        <p:txBody>
          <a:bodyPr wrap="square">
            <a:spAutoFit/>
          </a:bodyPr>
          <a:lstStyle/>
          <a:p>
            <a:pPr algn="l"/>
            <a:r>
              <a:rPr sz="1000" b="0">
                <a:solidFill>
                  <a:srgbClr val="444455"/>
                </a:solidFill>
              </a:rPr>
              <a:t>Story interactiva con quiz:
Clip de audio de árbitro diciendo algo en inglés.
'¿Qué dijo?'
A) Penalty
B) Free kick
C) Corner
Respuesta en siguiente story + dato curioso sobre esa jugada.
Genera engagement y saves.</a:t>
            </a:r>
          </a:p>
        </p:txBody>
      </p:sp>
      <p:sp>
        <p:nvSpPr>
          <p:cNvPr id="33" name="Rectangle 32"/>
          <p:cNvSpPr/>
          <p:nvPr/>
        </p:nvSpPr>
        <p:spPr>
          <a:xfrm>
            <a:off x="9802368" y="5925312"/>
            <a:ext cx="2148840" cy="41148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Responde y comparte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E0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7315200" cy="457200"/>
          </a:xfrm>
          <a:prstGeom prst="rect">
            <a:avLst/>
          </a:prstGeom>
          <a:noFill/>
        </p:spPr>
        <p:txBody>
          <a:bodyPr wrap="square">
            <a:spAutoFit/>
          </a:bodyPr>
          <a:lstStyle/>
          <a:p>
            <a:pPr algn="l"/>
            <a:r>
              <a:rPr sz="1400" b="1">
                <a:solidFill>
                  <a:srgbClr val="FFFFFF"/>
                </a:solidFill>
              </a:rPr>
              <a:t>SEMANA 3  ·  15 – 21 de junio</a:t>
            </a:r>
          </a:p>
        </p:txBody>
      </p:sp>
      <p:sp>
        <p:nvSpPr>
          <p:cNvPr id="4" name="Rectangle 3"/>
          <p:cNvSpPr/>
          <p:nvPr/>
        </p:nvSpPr>
        <p:spPr>
          <a:xfrm>
            <a:off x="320040" y="502920"/>
            <a:ext cx="50292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01C24"/>
                </a:solidFill>
              </a:rPr>
              <a:t>🔥 FIEBRE DEL MUNDIAL  |  Engagement máximo + Educación</a:t>
            </a:r>
          </a:p>
        </p:txBody>
      </p:sp>
      <p:sp>
        <p:nvSpPr>
          <p:cNvPr id="5" name="Rectangle 4"/>
          <p:cNvSpPr/>
          <p:nvPr/>
        </p:nvSpPr>
        <p:spPr>
          <a:xfrm>
            <a:off x="8046720" y="594360"/>
            <a:ext cx="960120" cy="25603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Estático</a:t>
            </a:r>
          </a:p>
        </p:txBody>
      </p:sp>
      <p:sp>
        <p:nvSpPr>
          <p:cNvPr id="6" name="Rectangle 5"/>
          <p:cNvSpPr/>
          <p:nvPr/>
        </p:nvSpPr>
        <p:spPr>
          <a:xfrm>
            <a:off x="9034272" y="594360"/>
            <a:ext cx="960120" cy="256032"/>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Carrusel</a:t>
            </a:r>
          </a:p>
        </p:txBody>
      </p:sp>
      <p:sp>
        <p:nvSpPr>
          <p:cNvPr id="7" name="Rectangle 6"/>
          <p:cNvSpPr/>
          <p:nvPr/>
        </p:nvSpPr>
        <p:spPr>
          <a:xfrm>
            <a:off x="10021824" y="594360"/>
            <a:ext cx="960120" cy="256032"/>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Reel</a:t>
            </a:r>
          </a:p>
        </p:txBody>
      </p:sp>
      <p:sp>
        <p:nvSpPr>
          <p:cNvPr id="8" name="Rectangle 7"/>
          <p:cNvSpPr/>
          <p:nvPr/>
        </p:nvSpPr>
        <p:spPr>
          <a:xfrm>
            <a:off x="11009376" y="594360"/>
            <a:ext cx="960120" cy="25603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Story</a:t>
            </a:r>
          </a:p>
        </p:txBody>
      </p:sp>
      <p:sp>
        <p:nvSpPr>
          <p:cNvPr id="9" name="Rectangle 8"/>
          <p:cNvSpPr/>
          <p:nvPr/>
        </p:nvSpPr>
        <p:spPr>
          <a:xfrm>
            <a:off x="320040" y="1078992"/>
            <a:ext cx="2240280" cy="5486400"/>
          </a:xfrm>
          <a:prstGeom prst="rect">
            <a:avLst/>
          </a:prstGeom>
          <a:solidFill>
            <a:srgbClr val="FFFFFF"/>
          </a:solidFill>
          <a:ln w="19050">
            <a:solidFill>
              <a:srgbClr val="7B2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78992"/>
            <a:ext cx="2240280" cy="384048"/>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Carrusel  ·  LUN 16 JUN</a:t>
            </a:r>
          </a:p>
        </p:txBody>
      </p:sp>
      <p:sp>
        <p:nvSpPr>
          <p:cNvPr id="11" name="Rectangle 10"/>
          <p:cNvSpPr/>
          <p:nvPr/>
        </p:nvSpPr>
        <p:spPr>
          <a:xfrm>
            <a:off x="365759"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Los 10 errores más comunes en inglés del Mundial</a:t>
            </a:r>
          </a:p>
        </p:txBody>
      </p:sp>
      <p:sp>
        <p:nvSpPr>
          <p:cNvPr id="12" name="TextBox 11"/>
          <p:cNvSpPr txBox="1"/>
          <p:nvPr/>
        </p:nvSpPr>
        <p:spPr>
          <a:xfrm>
            <a:off x="411479" y="2542032"/>
            <a:ext cx="2103120" cy="2926080"/>
          </a:xfrm>
          <a:prstGeom prst="rect">
            <a:avLst/>
          </a:prstGeom>
          <a:noFill/>
        </p:spPr>
        <p:txBody>
          <a:bodyPr wrap="square">
            <a:spAutoFit/>
          </a:bodyPr>
          <a:lstStyle/>
          <a:p>
            <a:pPr algn="l"/>
            <a:r>
              <a:rPr sz="1000" b="0">
                <a:solidFill>
                  <a:srgbClr val="444455"/>
                </a:solidFill>
              </a:rPr>
              <a:t>Contenido educativo + entretenimiento.
Slide 1: '¿Cómo dices estas cosas en inglés? Probablemente mal 😅'
Errores comunes:
❌ 'Make a goal' → ✅ 'Score a goal'
❌ 'The game is tied' → ✅ 'It's a draw'
❌ 'Kick a penalty' → ✅ 'Take/convert a penalty'
❌ 'Jubilate' → ✅ 'Celebrate'
Alta probabilidad de guardado y compartido.</a:t>
            </a:r>
          </a:p>
        </p:txBody>
      </p:sp>
      <p:sp>
        <p:nvSpPr>
          <p:cNvPr id="13" name="Rectangle 12"/>
          <p:cNvSpPr/>
          <p:nvPr/>
        </p:nvSpPr>
        <p:spPr>
          <a:xfrm>
            <a:off x="365759" y="5925312"/>
            <a:ext cx="2148840" cy="411480"/>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Guarda este carrusel</a:t>
            </a:r>
          </a:p>
        </p:txBody>
      </p:sp>
      <p:sp>
        <p:nvSpPr>
          <p:cNvPr id="14" name="Rectangle 13"/>
          <p:cNvSpPr/>
          <p:nvPr/>
        </p:nvSpPr>
        <p:spPr>
          <a:xfrm>
            <a:off x="2679192" y="1078992"/>
            <a:ext cx="2240280" cy="5486400"/>
          </a:xfrm>
          <a:prstGeom prst="rect">
            <a:avLst/>
          </a:prstGeom>
          <a:solidFill>
            <a:srgbClr val="FFFFFF"/>
          </a:solidFill>
          <a:ln w="19050">
            <a:solidFill>
              <a:srgbClr val="00B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79192" y="1078992"/>
            <a:ext cx="2240280" cy="384048"/>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Reel  ·  MAR 17 JUN</a:t>
            </a:r>
          </a:p>
        </p:txBody>
      </p:sp>
      <p:sp>
        <p:nvSpPr>
          <p:cNvPr id="16" name="Rectangle 15"/>
          <p:cNvSpPr/>
          <p:nvPr/>
        </p:nvSpPr>
        <p:spPr>
          <a:xfrm>
            <a:off x="2724912"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Así se ve un estadio en USA desde adentro 🇺🇸</a:t>
            </a:r>
          </a:p>
        </p:txBody>
      </p:sp>
      <p:sp>
        <p:nvSpPr>
          <p:cNvPr id="17" name="TextBox 16"/>
          <p:cNvSpPr txBox="1"/>
          <p:nvPr/>
        </p:nvSpPr>
        <p:spPr>
          <a:xfrm>
            <a:off x="2770632" y="2542032"/>
            <a:ext cx="2103120" cy="2926080"/>
          </a:xfrm>
          <a:prstGeom prst="rect">
            <a:avLst/>
          </a:prstGeom>
          <a:noFill/>
        </p:spPr>
        <p:txBody>
          <a:bodyPr wrap="square">
            <a:spAutoFit/>
          </a:bodyPr>
          <a:lstStyle/>
          <a:p>
            <a:pPr algn="l"/>
            <a:r>
              <a:rPr sz="1000" b="0">
                <a:solidFill>
                  <a:srgbClr val="444455"/>
                </a:solidFill>
              </a:rPr>
              <a:t>Reel experiencial.
Muestra cómo todo en los estadios de USA/Canadá está en inglés:
- Señalizaciones
- Pantallas
- Anuncios del estadio
- Cantos de las barras en inglés
Hook: 'Si vas al Mundial y no sabes inglés... te vas a perder la mitad de la experiencia'
Cierre: '¿Vas a dejarte perder eso?'</a:t>
            </a:r>
          </a:p>
        </p:txBody>
      </p:sp>
      <p:sp>
        <p:nvSpPr>
          <p:cNvPr id="18" name="Rectangle 17"/>
          <p:cNvSpPr/>
          <p:nvPr/>
        </p:nvSpPr>
        <p:spPr>
          <a:xfrm>
            <a:off x="2724912" y="5925312"/>
            <a:ext cx="2148840" cy="41148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Link en bio</a:t>
            </a:r>
          </a:p>
        </p:txBody>
      </p:sp>
      <p:sp>
        <p:nvSpPr>
          <p:cNvPr id="19" name="Rectangle 18"/>
          <p:cNvSpPr/>
          <p:nvPr/>
        </p:nvSpPr>
        <p:spPr>
          <a:xfrm>
            <a:off x="5038344" y="1078992"/>
            <a:ext cx="2240280" cy="54864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38344" y="1078992"/>
            <a:ext cx="224028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Estático  ·  MIÉ 18 JUN</a:t>
            </a:r>
          </a:p>
        </p:txBody>
      </p:sp>
      <p:sp>
        <p:nvSpPr>
          <p:cNvPr id="21" name="Rectangle 20"/>
          <p:cNvSpPr/>
          <p:nvPr/>
        </p:nvSpPr>
        <p:spPr>
          <a:xfrm>
            <a:off x="5084064"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Testimonio: 'Gracias a Inglés YA entendí el partido'</a:t>
            </a:r>
          </a:p>
        </p:txBody>
      </p:sp>
      <p:sp>
        <p:nvSpPr>
          <p:cNvPr id="22" name="TextBox 21"/>
          <p:cNvSpPr txBox="1"/>
          <p:nvPr/>
        </p:nvSpPr>
        <p:spPr>
          <a:xfrm>
            <a:off x="5129783" y="2542032"/>
            <a:ext cx="2103120" cy="2926080"/>
          </a:xfrm>
          <a:prstGeom prst="rect">
            <a:avLst/>
          </a:prstGeom>
          <a:noFill/>
        </p:spPr>
        <p:txBody>
          <a:bodyPr wrap="square">
            <a:spAutoFit/>
          </a:bodyPr>
          <a:lstStyle/>
          <a:p>
            <a:pPr algn="l"/>
            <a:r>
              <a:rPr sz="1000" b="0">
                <a:solidFill>
                  <a:srgbClr val="444455"/>
                </a:solidFill>
              </a:rPr>
              <a:t>Social proof / prueba social.
Formato tarjeta de testimonio real de alumno.
Frase del alumno relacionada al Mundial o a lograr entender el inglés.
Foto del alumno (o avatar si prefiere privacidad).
Fondo azul marca Inglés YA + logo.
Importante para conversión.</a:t>
            </a:r>
          </a:p>
        </p:txBody>
      </p:sp>
      <p:sp>
        <p:nvSpPr>
          <p:cNvPr id="23" name="Rectangle 22"/>
          <p:cNvSpPr/>
          <p:nvPr/>
        </p:nvSpPr>
        <p:spPr>
          <a:xfrm>
            <a:off x="5084064" y="5925312"/>
            <a:ext cx="2148840" cy="41148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¿Tú también quieres esto?</a:t>
            </a:r>
          </a:p>
        </p:txBody>
      </p:sp>
      <p:sp>
        <p:nvSpPr>
          <p:cNvPr id="24" name="Rectangle 23"/>
          <p:cNvSpPr/>
          <p:nvPr/>
        </p:nvSpPr>
        <p:spPr>
          <a:xfrm>
            <a:off x="7397496" y="1078992"/>
            <a:ext cx="2240280" cy="5486400"/>
          </a:xfrm>
          <a:prstGeom prst="rect">
            <a:avLst/>
          </a:prstGeom>
          <a:solidFill>
            <a:srgbClr val="FFFFFF"/>
          </a:solidFill>
          <a:ln w="19050">
            <a:solidFill>
              <a:srgbClr val="7B2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7496" y="1078992"/>
            <a:ext cx="2240280" cy="384048"/>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Carrusel  ·  JUE 19 JUN</a:t>
            </a:r>
          </a:p>
        </p:txBody>
      </p:sp>
      <p:sp>
        <p:nvSpPr>
          <p:cNvPr id="26" name="Rectangle 25"/>
          <p:cNvSpPr/>
          <p:nvPr/>
        </p:nvSpPr>
        <p:spPr>
          <a:xfrm>
            <a:off x="7443216"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Frases épicas de jugadores famosos en inglés</a:t>
            </a:r>
          </a:p>
        </p:txBody>
      </p:sp>
      <p:sp>
        <p:nvSpPr>
          <p:cNvPr id="27" name="TextBox 26"/>
          <p:cNvSpPr txBox="1"/>
          <p:nvPr/>
        </p:nvSpPr>
        <p:spPr>
          <a:xfrm>
            <a:off x="7488936" y="2542032"/>
            <a:ext cx="2103120" cy="2926080"/>
          </a:xfrm>
          <a:prstGeom prst="rect">
            <a:avLst/>
          </a:prstGeom>
          <a:noFill/>
        </p:spPr>
        <p:txBody>
          <a:bodyPr wrap="square">
            <a:spAutoFit/>
          </a:bodyPr>
          <a:lstStyle/>
          <a:p>
            <a:pPr algn="l"/>
            <a:r>
              <a:rPr sz="1000" b="0">
                <a:solidFill>
                  <a:srgbClr val="444455"/>
                </a:solidFill>
              </a:rPr>
              <a:t>Entretenimiento + educación.
Slide 1: 'Ellos dijeron esto en inglés. ¿Lo entiendes?'
5-6 slides con frases reales de jugadores:
- 'We take it game by game'
- 'The team gave everything today'
- 'We fought until the final whistle'
Slide final: 'Con Inglés YA, tú también lo entenderías en tiempo real'</a:t>
            </a:r>
          </a:p>
        </p:txBody>
      </p:sp>
      <p:sp>
        <p:nvSpPr>
          <p:cNvPr id="28" name="Rectangle 27"/>
          <p:cNvSpPr/>
          <p:nvPr/>
        </p:nvSpPr>
        <p:spPr>
          <a:xfrm>
            <a:off x="7443216" y="5925312"/>
            <a:ext cx="2148840" cy="411480"/>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Guarda para practicar</a:t>
            </a:r>
          </a:p>
        </p:txBody>
      </p:sp>
      <p:sp>
        <p:nvSpPr>
          <p:cNvPr id="29" name="Rectangle 28"/>
          <p:cNvSpPr/>
          <p:nvPr/>
        </p:nvSpPr>
        <p:spPr>
          <a:xfrm>
            <a:off x="9756648" y="1078992"/>
            <a:ext cx="2240280" cy="5486400"/>
          </a:xfrm>
          <a:prstGeom prst="rect">
            <a:avLst/>
          </a:prstGeom>
          <a:solidFill>
            <a:srgbClr val="FFFFFF"/>
          </a:solidFill>
          <a:ln w="19050">
            <a:solidFill>
              <a:srgbClr val="00B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56648" y="1078992"/>
            <a:ext cx="2240280" cy="384048"/>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Reel  ·  SÁB 21 JUN</a:t>
            </a:r>
          </a:p>
        </p:txBody>
      </p:sp>
      <p:sp>
        <p:nvSpPr>
          <p:cNvPr id="31" name="Rectangle 30"/>
          <p:cNvSpPr/>
          <p:nvPr/>
        </p:nvSpPr>
        <p:spPr>
          <a:xfrm>
            <a:off x="9802368"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Challenge: repite estas frases del Mundial</a:t>
            </a:r>
          </a:p>
        </p:txBody>
      </p:sp>
      <p:sp>
        <p:nvSpPr>
          <p:cNvPr id="32" name="TextBox 31"/>
          <p:cNvSpPr txBox="1"/>
          <p:nvPr/>
        </p:nvSpPr>
        <p:spPr>
          <a:xfrm>
            <a:off x="9848088" y="2542032"/>
            <a:ext cx="2103120" cy="2926080"/>
          </a:xfrm>
          <a:prstGeom prst="rect">
            <a:avLst/>
          </a:prstGeom>
          <a:noFill/>
        </p:spPr>
        <p:txBody>
          <a:bodyPr wrap="square">
            <a:spAutoFit/>
          </a:bodyPr>
          <a:lstStyle/>
          <a:p>
            <a:pPr algn="l"/>
            <a:r>
              <a:rPr sz="1000" b="0">
                <a:solidFill>
                  <a:srgbClr val="444455"/>
                </a:solidFill>
              </a:rPr>
              <a:t>Reel interactivo / trend.
Instructor dice frases del Mundial en inglés y el espectador debe repetirlas.
3 niveles: Fácil / Medio / Difícil
Fácil: 'Goal! / Corner! / Foul!'
Medio: 'He scored a brilliant goal!'
Difícil: 'That was an incredible last-minute equalizer!'
Pide que compartan su video repitiendo las frases con #InglésYAMundial</a:t>
            </a:r>
          </a:p>
        </p:txBody>
      </p:sp>
      <p:sp>
        <p:nvSpPr>
          <p:cNvPr id="33" name="Rectangle 32"/>
          <p:cNvSpPr/>
          <p:nvPr/>
        </p:nvSpPr>
        <p:spPr>
          <a:xfrm>
            <a:off x="9802368" y="5925312"/>
            <a:ext cx="2148840" cy="41148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¿Te animas? Comparte tu video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7315200" cy="457200"/>
          </a:xfrm>
          <a:prstGeom prst="rect">
            <a:avLst/>
          </a:prstGeom>
          <a:noFill/>
        </p:spPr>
        <p:txBody>
          <a:bodyPr wrap="square">
            <a:spAutoFit/>
          </a:bodyPr>
          <a:lstStyle/>
          <a:p>
            <a:pPr algn="l"/>
            <a:r>
              <a:rPr sz="1400" b="1">
                <a:solidFill>
                  <a:srgbClr val="FFFFFF"/>
                </a:solidFill>
              </a:rPr>
              <a:t>SEMANA 4  ·  22 – 28 de junio</a:t>
            </a:r>
          </a:p>
        </p:txBody>
      </p:sp>
      <p:sp>
        <p:nvSpPr>
          <p:cNvPr id="4" name="Rectangle 3"/>
          <p:cNvSpPr/>
          <p:nvPr/>
        </p:nvSpPr>
        <p:spPr>
          <a:xfrm>
            <a:off x="320040" y="502920"/>
            <a:ext cx="50292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5BC4"/>
                </a:solidFill>
              </a:rPr>
              <a:t>💰 CONVERSIÓN + CIERRE DE GRUPOS  |  Push inscripciones</a:t>
            </a:r>
          </a:p>
        </p:txBody>
      </p:sp>
      <p:sp>
        <p:nvSpPr>
          <p:cNvPr id="5" name="Rectangle 4"/>
          <p:cNvSpPr/>
          <p:nvPr/>
        </p:nvSpPr>
        <p:spPr>
          <a:xfrm>
            <a:off x="8046720" y="594360"/>
            <a:ext cx="960120" cy="25603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Estático</a:t>
            </a:r>
          </a:p>
        </p:txBody>
      </p:sp>
      <p:sp>
        <p:nvSpPr>
          <p:cNvPr id="6" name="Rectangle 5"/>
          <p:cNvSpPr/>
          <p:nvPr/>
        </p:nvSpPr>
        <p:spPr>
          <a:xfrm>
            <a:off x="9034272" y="594360"/>
            <a:ext cx="960120" cy="256032"/>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Carrusel</a:t>
            </a:r>
          </a:p>
        </p:txBody>
      </p:sp>
      <p:sp>
        <p:nvSpPr>
          <p:cNvPr id="7" name="Rectangle 6"/>
          <p:cNvSpPr/>
          <p:nvPr/>
        </p:nvSpPr>
        <p:spPr>
          <a:xfrm>
            <a:off x="10021824" y="594360"/>
            <a:ext cx="960120" cy="256032"/>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Reel</a:t>
            </a:r>
          </a:p>
        </p:txBody>
      </p:sp>
      <p:sp>
        <p:nvSpPr>
          <p:cNvPr id="8" name="Rectangle 7"/>
          <p:cNvSpPr/>
          <p:nvPr/>
        </p:nvSpPr>
        <p:spPr>
          <a:xfrm>
            <a:off x="11009376" y="594360"/>
            <a:ext cx="960120" cy="25603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 Story</a:t>
            </a:r>
          </a:p>
        </p:txBody>
      </p:sp>
      <p:sp>
        <p:nvSpPr>
          <p:cNvPr id="9" name="Rectangle 8"/>
          <p:cNvSpPr/>
          <p:nvPr/>
        </p:nvSpPr>
        <p:spPr>
          <a:xfrm>
            <a:off x="320040" y="1078992"/>
            <a:ext cx="2240280" cy="5486400"/>
          </a:xfrm>
          <a:prstGeom prst="rect">
            <a:avLst/>
          </a:prstGeom>
          <a:solidFill>
            <a:srgbClr val="FFFFFF"/>
          </a:solidFill>
          <a:ln w="19050">
            <a:solidFill>
              <a:srgbClr val="7B2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78992"/>
            <a:ext cx="2240280" cy="384048"/>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Carrusel  ·  LUN 23 JUN</a:t>
            </a:r>
          </a:p>
        </p:txBody>
      </p:sp>
      <p:sp>
        <p:nvSpPr>
          <p:cNvPr id="11" name="Rectangle 10"/>
          <p:cNvSpPr/>
          <p:nvPr/>
        </p:nvSpPr>
        <p:spPr>
          <a:xfrm>
            <a:off x="365759"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TOP 10 frases que TODOS usan en inglés del Mundial</a:t>
            </a:r>
          </a:p>
        </p:txBody>
      </p:sp>
      <p:sp>
        <p:nvSpPr>
          <p:cNvPr id="12" name="TextBox 11"/>
          <p:cNvSpPr txBox="1"/>
          <p:nvPr/>
        </p:nvSpPr>
        <p:spPr>
          <a:xfrm>
            <a:off x="411479" y="2542032"/>
            <a:ext cx="2103120" cy="2926080"/>
          </a:xfrm>
          <a:prstGeom prst="rect">
            <a:avLst/>
          </a:prstGeom>
          <a:noFill/>
        </p:spPr>
        <p:txBody>
          <a:bodyPr wrap="square">
            <a:spAutoFit/>
          </a:bodyPr>
          <a:lstStyle/>
          <a:p>
            <a:pPr algn="l"/>
            <a:r>
              <a:rPr sz="1000" b="0">
                <a:solidFill>
                  <a:srgbClr val="444455"/>
                </a:solidFill>
              </a:rPr>
              <a:t>Contenido de alto valor compartible.
1. 'He's on fire!'
2. 'What a save!'
3. 'That was close!'
4. 'Game changer'
5. 'Last minute winner'
6. 'Clean sheet'
7. 'Hat trick'
8. 'Man of the match'
9. 'Extra time'
10. 'Penalty shootout'
Diseño minimalista, una frase por slide.</a:t>
            </a:r>
          </a:p>
        </p:txBody>
      </p:sp>
      <p:sp>
        <p:nvSpPr>
          <p:cNvPr id="13" name="Rectangle 12"/>
          <p:cNvSpPr/>
          <p:nvPr/>
        </p:nvSpPr>
        <p:spPr>
          <a:xfrm>
            <a:off x="365759" y="5925312"/>
            <a:ext cx="2148840" cy="411480"/>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Guarda tu diccionario del Mundial</a:t>
            </a:r>
          </a:p>
        </p:txBody>
      </p:sp>
      <p:sp>
        <p:nvSpPr>
          <p:cNvPr id="14" name="Rectangle 13"/>
          <p:cNvSpPr/>
          <p:nvPr/>
        </p:nvSpPr>
        <p:spPr>
          <a:xfrm>
            <a:off x="2679192" y="1078992"/>
            <a:ext cx="2240280" cy="5486400"/>
          </a:xfrm>
          <a:prstGeom prst="rect">
            <a:avLst/>
          </a:prstGeom>
          <a:solidFill>
            <a:srgbClr val="FFFFFF"/>
          </a:solidFill>
          <a:ln w="19050">
            <a:solidFill>
              <a:srgbClr val="00B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79192" y="1078992"/>
            <a:ext cx="2240280" cy="384048"/>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Reel  ·  MAR 24 JUN</a:t>
            </a:r>
          </a:p>
        </p:txBody>
      </p:sp>
      <p:sp>
        <p:nvSpPr>
          <p:cNvPr id="16" name="Rectangle 15"/>
          <p:cNvSpPr/>
          <p:nvPr/>
        </p:nvSpPr>
        <p:spPr>
          <a:xfrm>
            <a:off x="2724912"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¿Qué pasa en los vestuarios? Todo en inglés</a:t>
            </a:r>
          </a:p>
        </p:txBody>
      </p:sp>
      <p:sp>
        <p:nvSpPr>
          <p:cNvPr id="17" name="TextBox 16"/>
          <p:cNvSpPr txBox="1"/>
          <p:nvPr/>
        </p:nvSpPr>
        <p:spPr>
          <a:xfrm>
            <a:off x="2770632" y="2542032"/>
            <a:ext cx="2103120" cy="2926080"/>
          </a:xfrm>
          <a:prstGeom prst="rect">
            <a:avLst/>
          </a:prstGeom>
          <a:noFill/>
        </p:spPr>
        <p:txBody>
          <a:bodyPr wrap="square">
            <a:spAutoFit/>
          </a:bodyPr>
          <a:lstStyle/>
          <a:p>
            <a:pPr algn="l"/>
            <a:r>
              <a:rPr sz="1000" b="0">
                <a:solidFill>
                  <a:srgbClr val="444455"/>
                </a:solidFill>
              </a:rPr>
              <a:t>Reel curioso / educativo.
Habla de lo que pasa entre jugadores de diferentes países en los partidos: se comunican en inglés.
Dato: el inglés es el idioma del deporte a nivel mundial.
'¿Sabías que el árbitro siempre habla inglés con los jugadores?'
Gancho de necesidad: si tú juegas, viajas o trabajas en deporte, NECESITAS inglés.</a:t>
            </a:r>
          </a:p>
        </p:txBody>
      </p:sp>
      <p:sp>
        <p:nvSpPr>
          <p:cNvPr id="18" name="Rectangle 17"/>
          <p:cNvSpPr/>
          <p:nvPr/>
        </p:nvSpPr>
        <p:spPr>
          <a:xfrm>
            <a:off x="2724912" y="5925312"/>
            <a:ext cx="2148840" cy="41148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¿Quieres aprenderlo? DM</a:t>
            </a:r>
          </a:p>
        </p:txBody>
      </p:sp>
      <p:sp>
        <p:nvSpPr>
          <p:cNvPr id="19" name="Rectangle 18"/>
          <p:cNvSpPr/>
          <p:nvPr/>
        </p:nvSpPr>
        <p:spPr>
          <a:xfrm>
            <a:off x="5038344" y="1078992"/>
            <a:ext cx="2240280" cy="54864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38344" y="1078992"/>
            <a:ext cx="224028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Estático  ·  JUE 26 JUN</a:t>
            </a:r>
          </a:p>
        </p:txBody>
      </p:sp>
      <p:sp>
        <p:nvSpPr>
          <p:cNvPr id="21" name="Rectangle 20"/>
          <p:cNvSpPr/>
          <p:nvPr/>
        </p:nvSpPr>
        <p:spPr>
          <a:xfrm>
            <a:off x="5084064"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OFERTA ESPECIAL MUNDIAL ⚽🎯</a:t>
            </a:r>
          </a:p>
        </p:txBody>
      </p:sp>
      <p:sp>
        <p:nvSpPr>
          <p:cNvPr id="22" name="TextBox 21"/>
          <p:cNvSpPr txBox="1"/>
          <p:nvPr/>
        </p:nvSpPr>
        <p:spPr>
          <a:xfrm>
            <a:off x="5129783" y="2542032"/>
            <a:ext cx="2103120" cy="2926080"/>
          </a:xfrm>
          <a:prstGeom prst="rect">
            <a:avLst/>
          </a:prstGeom>
          <a:noFill/>
        </p:spPr>
        <p:txBody>
          <a:bodyPr wrap="square">
            <a:spAutoFit/>
          </a:bodyPr>
          <a:lstStyle/>
          <a:p>
            <a:pPr algn="l"/>
            <a:r>
              <a:rPr sz="1000" b="0">
                <a:solidFill>
                  <a:srgbClr val="444455"/>
                </a:solidFill>
              </a:rPr>
              <a:t>⭐ POST DE CONVERSIÓN
Diseño especial con bandera/tema mundialista.
Oferta concreta de Inglés YA (precio, condiciones, deadline).
Texto: 'Mientras el Mundial sigue... tú puedes empezar a entenderlo TODO.'
Urgencia: 'Oferta válida hasta el [fecha]'
CTA directo a WhatsApp / inscripción.</a:t>
            </a:r>
          </a:p>
        </p:txBody>
      </p:sp>
      <p:sp>
        <p:nvSpPr>
          <p:cNvPr id="23" name="Rectangle 22"/>
          <p:cNvSpPr/>
          <p:nvPr/>
        </p:nvSpPr>
        <p:spPr>
          <a:xfrm>
            <a:off x="5084064" y="5925312"/>
            <a:ext cx="2148840" cy="41148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INSCRÍBETE AHORA</a:t>
            </a:r>
          </a:p>
        </p:txBody>
      </p:sp>
      <p:sp>
        <p:nvSpPr>
          <p:cNvPr id="24" name="Rectangle 23"/>
          <p:cNvSpPr/>
          <p:nvPr/>
        </p:nvSpPr>
        <p:spPr>
          <a:xfrm>
            <a:off x="7397496" y="1078992"/>
            <a:ext cx="2240280" cy="5486400"/>
          </a:xfrm>
          <a:prstGeom prst="rect">
            <a:avLst/>
          </a:prstGeom>
          <a:solidFill>
            <a:srgbClr val="FFFFFF"/>
          </a:solidFill>
          <a:ln w="19050">
            <a:solidFill>
              <a:srgbClr val="00B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7496" y="1078992"/>
            <a:ext cx="2240280" cy="384048"/>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Reel  ·  VIE 27 JUN</a:t>
            </a:r>
          </a:p>
        </p:txBody>
      </p:sp>
      <p:sp>
        <p:nvSpPr>
          <p:cNvPr id="26" name="Rectangle 25"/>
          <p:cNvSpPr/>
          <p:nvPr/>
        </p:nvSpPr>
        <p:spPr>
          <a:xfrm>
            <a:off x="7443216"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Recap semanal: Lo mejor del Mundial EN INGLÉS</a:t>
            </a:r>
          </a:p>
        </p:txBody>
      </p:sp>
      <p:sp>
        <p:nvSpPr>
          <p:cNvPr id="27" name="TextBox 26"/>
          <p:cNvSpPr txBox="1"/>
          <p:nvPr/>
        </p:nvSpPr>
        <p:spPr>
          <a:xfrm>
            <a:off x="7488936" y="2542032"/>
            <a:ext cx="2103120" cy="2926080"/>
          </a:xfrm>
          <a:prstGeom prst="rect">
            <a:avLst/>
          </a:prstGeom>
          <a:noFill/>
        </p:spPr>
        <p:txBody>
          <a:bodyPr wrap="square">
            <a:spAutoFit/>
          </a:bodyPr>
          <a:lstStyle/>
          <a:p>
            <a:pPr algn="l"/>
            <a:r>
              <a:rPr sz="1000" b="0">
                <a:solidFill>
                  <a:srgbClr val="444455"/>
                </a:solidFill>
              </a:rPr>
              <a:t>Reel de noticias / recap.
Resumen de los mejores momentos de la semana con los términos en inglés.
'Esta semana en el Mundial escuchamos...'
5 frases reales de los partidos de la semana con su significado.
Conecta la actualidad con el aprendizaje del idioma.
Formato dinámico, texto rápido, música energética.</a:t>
            </a:r>
          </a:p>
        </p:txBody>
      </p:sp>
      <p:sp>
        <p:nvSpPr>
          <p:cNvPr id="28" name="Rectangle 27"/>
          <p:cNvSpPr/>
          <p:nvPr/>
        </p:nvSpPr>
        <p:spPr>
          <a:xfrm>
            <a:off x="7443216" y="5925312"/>
            <a:ext cx="2148840" cy="411480"/>
          </a:xfrm>
          <a:prstGeom prst="rect">
            <a:avLst/>
          </a:prstGeom>
          <a:solidFill>
            <a:srgbClr val="00B0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Síguenos para el recap semanal</a:t>
            </a:r>
          </a:p>
        </p:txBody>
      </p:sp>
      <p:sp>
        <p:nvSpPr>
          <p:cNvPr id="29" name="Rectangle 28"/>
          <p:cNvSpPr/>
          <p:nvPr/>
        </p:nvSpPr>
        <p:spPr>
          <a:xfrm>
            <a:off x="9756648" y="1078992"/>
            <a:ext cx="2240280" cy="5486400"/>
          </a:xfrm>
          <a:prstGeom prst="rect">
            <a:avLst/>
          </a:prstGeom>
          <a:solidFill>
            <a:srgbClr val="FFFFFF"/>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56648" y="1078992"/>
            <a:ext cx="2240280" cy="3840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 Story  ·  SÁB 28 JUN</a:t>
            </a:r>
          </a:p>
        </p:txBody>
      </p:sp>
      <p:sp>
        <p:nvSpPr>
          <p:cNvPr id="31" name="Rectangle 30"/>
          <p:cNvSpPr/>
          <p:nvPr/>
        </p:nvSpPr>
        <p:spPr>
          <a:xfrm>
            <a:off x="9802368" y="1508760"/>
            <a:ext cx="2148840" cy="96012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2D72"/>
                </a:solidFill>
              </a:rPr>
              <a:t>¿Ya te inscribiste? Última llamada ⏰</a:t>
            </a:r>
          </a:p>
        </p:txBody>
      </p:sp>
      <p:sp>
        <p:nvSpPr>
          <p:cNvPr id="32" name="TextBox 31"/>
          <p:cNvSpPr txBox="1"/>
          <p:nvPr/>
        </p:nvSpPr>
        <p:spPr>
          <a:xfrm>
            <a:off x="9848088" y="2542032"/>
            <a:ext cx="2103120" cy="2926080"/>
          </a:xfrm>
          <a:prstGeom prst="rect">
            <a:avLst/>
          </a:prstGeom>
          <a:noFill/>
        </p:spPr>
        <p:txBody>
          <a:bodyPr wrap="square">
            <a:spAutoFit/>
          </a:bodyPr>
          <a:lstStyle/>
          <a:p>
            <a:pPr algn="l"/>
            <a:r>
              <a:rPr sz="1000" b="0">
                <a:solidFill>
                  <a:srgbClr val="444455"/>
                </a:solidFill>
              </a:rPr>
              <a:t>Story de urgencia.
Cuenta regresiva visual para cierre de oferta especial.
Texto: 'Los octavos de final están por llegar. El inglés que no aprendiste hoy... te lo vas a perder mañana.'
Botón de link directo a WhatsApp o landing page.
Paleta roja/urgencia.</a:t>
            </a:r>
          </a:p>
        </p:txBody>
      </p:sp>
      <p:sp>
        <p:nvSpPr>
          <p:cNvPr id="33" name="Rectangle 32"/>
          <p:cNvSpPr/>
          <p:nvPr/>
        </p:nvSpPr>
        <p:spPr>
          <a:xfrm>
            <a:off x="9802368" y="5925312"/>
            <a:ext cx="2148840" cy="41148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 Últ. lugar disponible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2D72"/>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457200"/>
          </a:xfrm>
          <a:prstGeom prst="rect">
            <a:avLst/>
          </a:prstGeom>
          <a:noFill/>
        </p:spPr>
        <p:txBody>
          <a:bodyPr wrap="square">
            <a:spAutoFit/>
          </a:bodyPr>
          <a:lstStyle/>
          <a:p>
            <a:pPr algn="l"/>
            <a:r>
              <a:rPr sz="1400" b="1">
                <a:solidFill>
                  <a:srgbClr val="002D72"/>
                </a:solidFill>
              </a:rPr>
              <a:t>SEMANA 5  ·  29 – 30 de junio</a:t>
            </a:r>
          </a:p>
        </p:txBody>
      </p:sp>
      <p:sp>
        <p:nvSpPr>
          <p:cNvPr id="4" name="TextBox 3"/>
          <p:cNvSpPr txBox="1"/>
          <p:nvPr/>
        </p:nvSpPr>
        <p:spPr>
          <a:xfrm>
            <a:off x="365760" y="502920"/>
            <a:ext cx="8229600" cy="347472"/>
          </a:xfrm>
          <a:prstGeom prst="rect">
            <a:avLst/>
          </a:prstGeom>
          <a:noFill/>
        </p:spPr>
        <p:txBody>
          <a:bodyPr wrap="square">
            <a:spAutoFit/>
          </a:bodyPr>
          <a:lstStyle/>
          <a:p>
            <a:pPr algn="l"/>
            <a:r>
              <a:rPr sz="1300" b="1">
                <a:solidFill>
                  <a:srgbClr val="002D72"/>
                </a:solidFill>
              </a:rPr>
              <a:t>🏆 OCTAVOS + CIERRE DE MES  |  Impulso final hacia Julio</a:t>
            </a:r>
          </a:p>
        </p:txBody>
      </p:sp>
      <p:sp>
        <p:nvSpPr>
          <p:cNvPr id="5" name="Rectangle 4"/>
          <p:cNvSpPr/>
          <p:nvPr/>
        </p:nvSpPr>
        <p:spPr>
          <a:xfrm>
            <a:off x="365760" y="1097280"/>
            <a:ext cx="5394960" cy="5394960"/>
          </a:xfrm>
          <a:prstGeom prst="rect">
            <a:avLst/>
          </a:prstGeom>
          <a:solidFill>
            <a:srgbClr val="FFFFFF"/>
          </a:solidFill>
          <a:ln w="19050">
            <a:solidFill>
              <a:srgbClr val="FFC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97280"/>
            <a:ext cx="5394960" cy="38404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02D72"/>
                </a:solidFill>
              </a:rPr>
              <a:t>🎬 Reel  ·  LUN 30 JUN</a:t>
            </a:r>
          </a:p>
        </p:txBody>
      </p:sp>
      <p:sp>
        <p:nvSpPr>
          <p:cNvPr id="7" name="Rectangle 6"/>
          <p:cNvSpPr/>
          <p:nvPr/>
        </p:nvSpPr>
        <p:spPr>
          <a:xfrm>
            <a:off x="457200" y="1536192"/>
            <a:ext cx="5212080" cy="82296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002D72"/>
                </a:solidFill>
              </a:rPr>
              <a:t>¡Llegamos a Octavos! ¿Ya entiendes el inglés? 🏆</a:t>
            </a:r>
          </a:p>
        </p:txBody>
      </p:sp>
      <p:sp>
        <p:nvSpPr>
          <p:cNvPr id="8" name="TextBox 7"/>
          <p:cNvSpPr txBox="1"/>
          <p:nvPr/>
        </p:nvSpPr>
        <p:spPr>
          <a:xfrm>
            <a:off x="502920" y="2423160"/>
            <a:ext cx="5120640" cy="3474720"/>
          </a:xfrm>
          <a:prstGeom prst="rect">
            <a:avLst/>
          </a:prstGeom>
          <a:noFill/>
        </p:spPr>
        <p:txBody>
          <a:bodyPr wrap="square">
            <a:spAutoFit/>
          </a:bodyPr>
          <a:lstStyle/>
          <a:p>
            <a:pPr algn="l"/>
            <a:r>
              <a:rPr sz="1100" b="0">
                <a:solidFill>
                  <a:srgbClr val="444455"/>
                </a:solidFill>
              </a:rPr>
              <a:t>Reel de cierre de mes.
Hook: 'Un mes de Mundial. ¿Cuánto inglés aprendiste sin darte cuenta?'
Recap de los términos vistos en el mes.
Transición a contenido de Julio: 'Los Octavos se juegan en inglés. ¿Listo para entenderlos todos?'
CTA fuerte a inscripción / clase gratuita de julio.</a:t>
            </a:r>
          </a:p>
        </p:txBody>
      </p:sp>
      <p:sp>
        <p:nvSpPr>
          <p:cNvPr id="9" name="Rectangle 8"/>
          <p:cNvSpPr/>
          <p:nvPr/>
        </p:nvSpPr>
        <p:spPr>
          <a:xfrm>
            <a:off x="457200" y="6080760"/>
            <a:ext cx="5212080" cy="32004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002D72"/>
                </a:solidFill>
              </a:rPr>
              <a:t>🎯 CTA: ¡Inscríbete para Julio y sigue el Mundial en inglés!</a:t>
            </a:r>
          </a:p>
        </p:txBody>
      </p:sp>
      <p:sp>
        <p:nvSpPr>
          <p:cNvPr id="10" name="Rectangle 9"/>
          <p:cNvSpPr/>
          <p:nvPr/>
        </p:nvSpPr>
        <p:spPr>
          <a:xfrm>
            <a:off x="6400800" y="1097280"/>
            <a:ext cx="5486400" cy="539496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097280"/>
            <a:ext cx="548640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 RESUMEN DEL MES</a:t>
            </a:r>
          </a:p>
        </p:txBody>
      </p:sp>
      <p:sp>
        <p:nvSpPr>
          <p:cNvPr id="12" name="Rectangle 11"/>
          <p:cNvSpPr/>
          <p:nvPr/>
        </p:nvSpPr>
        <p:spPr>
          <a:xfrm>
            <a:off x="6492240" y="1572768"/>
            <a:ext cx="685800" cy="47548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2D72"/>
                </a:solidFill>
              </a:rPr>
              <a:t>28</a:t>
            </a:r>
          </a:p>
        </p:txBody>
      </p:sp>
      <p:sp>
        <p:nvSpPr>
          <p:cNvPr id="13" name="TextBox 12"/>
          <p:cNvSpPr txBox="1"/>
          <p:nvPr/>
        </p:nvSpPr>
        <p:spPr>
          <a:xfrm>
            <a:off x="7269480" y="1645920"/>
            <a:ext cx="4389120" cy="365760"/>
          </a:xfrm>
          <a:prstGeom prst="rect">
            <a:avLst/>
          </a:prstGeom>
          <a:noFill/>
        </p:spPr>
        <p:txBody>
          <a:bodyPr wrap="square">
            <a:spAutoFit/>
          </a:bodyPr>
          <a:lstStyle/>
          <a:p>
            <a:pPr algn="l"/>
            <a:r>
              <a:rPr sz="1100" b="0">
                <a:solidFill>
                  <a:srgbClr val="444455"/>
                </a:solidFill>
              </a:rPr>
              <a:t>Publicaciones totales</a:t>
            </a:r>
          </a:p>
        </p:txBody>
      </p:sp>
      <p:sp>
        <p:nvSpPr>
          <p:cNvPr id="14" name="Rectangle 13"/>
          <p:cNvSpPr/>
          <p:nvPr/>
        </p:nvSpPr>
        <p:spPr>
          <a:xfrm>
            <a:off x="6492240" y="2139696"/>
            <a:ext cx="685800" cy="47548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2D72"/>
                </a:solidFill>
              </a:rPr>
              <a:t>5</a:t>
            </a:r>
          </a:p>
        </p:txBody>
      </p:sp>
      <p:sp>
        <p:nvSpPr>
          <p:cNvPr id="15" name="TextBox 14"/>
          <p:cNvSpPr txBox="1"/>
          <p:nvPr/>
        </p:nvSpPr>
        <p:spPr>
          <a:xfrm>
            <a:off x="7269480" y="2212848"/>
            <a:ext cx="4389120" cy="365760"/>
          </a:xfrm>
          <a:prstGeom prst="rect">
            <a:avLst/>
          </a:prstGeom>
          <a:noFill/>
        </p:spPr>
        <p:txBody>
          <a:bodyPr wrap="square">
            <a:spAutoFit/>
          </a:bodyPr>
          <a:lstStyle/>
          <a:p>
            <a:pPr algn="l"/>
            <a:r>
              <a:rPr sz="1100" b="0">
                <a:solidFill>
                  <a:srgbClr val="444455"/>
                </a:solidFill>
              </a:rPr>
              <a:t>Reels (alto alcance)</a:t>
            </a:r>
          </a:p>
        </p:txBody>
      </p:sp>
      <p:sp>
        <p:nvSpPr>
          <p:cNvPr id="16" name="Rectangle 15"/>
          <p:cNvSpPr/>
          <p:nvPr/>
        </p:nvSpPr>
        <p:spPr>
          <a:xfrm>
            <a:off x="6492240" y="2706624"/>
            <a:ext cx="685800" cy="47548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2D72"/>
                </a:solidFill>
              </a:rPr>
              <a:t>6</a:t>
            </a:r>
          </a:p>
        </p:txBody>
      </p:sp>
      <p:sp>
        <p:nvSpPr>
          <p:cNvPr id="17" name="TextBox 16"/>
          <p:cNvSpPr txBox="1"/>
          <p:nvPr/>
        </p:nvSpPr>
        <p:spPr>
          <a:xfrm>
            <a:off x="7269480" y="2779776"/>
            <a:ext cx="4389120" cy="365760"/>
          </a:xfrm>
          <a:prstGeom prst="rect">
            <a:avLst/>
          </a:prstGeom>
          <a:noFill/>
        </p:spPr>
        <p:txBody>
          <a:bodyPr wrap="square">
            <a:spAutoFit/>
          </a:bodyPr>
          <a:lstStyle/>
          <a:p>
            <a:pPr algn="l"/>
            <a:r>
              <a:rPr sz="1100" b="0">
                <a:solidFill>
                  <a:srgbClr val="444455"/>
                </a:solidFill>
              </a:rPr>
              <a:t>Carruseles (guardados)</a:t>
            </a:r>
          </a:p>
        </p:txBody>
      </p:sp>
      <p:sp>
        <p:nvSpPr>
          <p:cNvPr id="18" name="Rectangle 17"/>
          <p:cNvSpPr/>
          <p:nvPr/>
        </p:nvSpPr>
        <p:spPr>
          <a:xfrm>
            <a:off x="6492240" y="3273552"/>
            <a:ext cx="685800" cy="47548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2D72"/>
                </a:solidFill>
              </a:rPr>
              <a:t>7</a:t>
            </a:r>
          </a:p>
        </p:txBody>
      </p:sp>
      <p:sp>
        <p:nvSpPr>
          <p:cNvPr id="19" name="TextBox 18"/>
          <p:cNvSpPr txBox="1"/>
          <p:nvPr/>
        </p:nvSpPr>
        <p:spPr>
          <a:xfrm>
            <a:off x="7269480" y="3346704"/>
            <a:ext cx="4389120" cy="365760"/>
          </a:xfrm>
          <a:prstGeom prst="rect">
            <a:avLst/>
          </a:prstGeom>
          <a:noFill/>
        </p:spPr>
        <p:txBody>
          <a:bodyPr wrap="square">
            <a:spAutoFit/>
          </a:bodyPr>
          <a:lstStyle/>
          <a:p>
            <a:pPr algn="l"/>
            <a:r>
              <a:rPr sz="1100" b="0">
                <a:solidFill>
                  <a:srgbClr val="444455"/>
                </a:solidFill>
              </a:rPr>
              <a:t>Estáticos (branding)</a:t>
            </a:r>
          </a:p>
        </p:txBody>
      </p:sp>
      <p:sp>
        <p:nvSpPr>
          <p:cNvPr id="20" name="Rectangle 19"/>
          <p:cNvSpPr/>
          <p:nvPr/>
        </p:nvSpPr>
        <p:spPr>
          <a:xfrm>
            <a:off x="6492240" y="3840480"/>
            <a:ext cx="685800" cy="47548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2D72"/>
                </a:solidFill>
              </a:rPr>
              <a:t>4</a:t>
            </a:r>
          </a:p>
        </p:txBody>
      </p:sp>
      <p:sp>
        <p:nvSpPr>
          <p:cNvPr id="21" name="TextBox 20"/>
          <p:cNvSpPr txBox="1"/>
          <p:nvPr/>
        </p:nvSpPr>
        <p:spPr>
          <a:xfrm>
            <a:off x="7269480" y="3913632"/>
            <a:ext cx="4389120" cy="365760"/>
          </a:xfrm>
          <a:prstGeom prst="rect">
            <a:avLst/>
          </a:prstGeom>
          <a:noFill/>
        </p:spPr>
        <p:txBody>
          <a:bodyPr wrap="square">
            <a:spAutoFit/>
          </a:bodyPr>
          <a:lstStyle/>
          <a:p>
            <a:pPr algn="l"/>
            <a:r>
              <a:rPr sz="1100" b="0">
                <a:solidFill>
                  <a:srgbClr val="444455"/>
                </a:solidFill>
              </a:rPr>
              <a:t>Stories interactivas</a:t>
            </a:r>
          </a:p>
        </p:txBody>
      </p:sp>
      <p:sp>
        <p:nvSpPr>
          <p:cNvPr id="22" name="Rectangle 21"/>
          <p:cNvSpPr/>
          <p:nvPr/>
        </p:nvSpPr>
        <p:spPr>
          <a:xfrm>
            <a:off x="6492240" y="4407408"/>
            <a:ext cx="685800" cy="47548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2D72"/>
                </a:solidFill>
              </a:rPr>
              <a:t>1</a:t>
            </a:r>
          </a:p>
        </p:txBody>
      </p:sp>
      <p:sp>
        <p:nvSpPr>
          <p:cNvPr id="23" name="TextBox 22"/>
          <p:cNvSpPr txBox="1"/>
          <p:nvPr/>
        </p:nvSpPr>
        <p:spPr>
          <a:xfrm>
            <a:off x="7269480" y="4480560"/>
            <a:ext cx="4389120" cy="365760"/>
          </a:xfrm>
          <a:prstGeom prst="rect">
            <a:avLst/>
          </a:prstGeom>
          <a:noFill/>
        </p:spPr>
        <p:txBody>
          <a:bodyPr wrap="square">
            <a:spAutoFit/>
          </a:bodyPr>
          <a:lstStyle/>
          <a:p>
            <a:pPr algn="l"/>
            <a:r>
              <a:rPr sz="1100" b="0">
                <a:solidFill>
                  <a:srgbClr val="444455"/>
                </a:solidFill>
              </a:rPr>
              <a:t>Reel viral 'Cara de WHAT'</a:t>
            </a:r>
          </a:p>
        </p:txBody>
      </p:sp>
      <p:sp>
        <p:nvSpPr>
          <p:cNvPr id="24" name="Rectangle 23"/>
          <p:cNvSpPr/>
          <p:nvPr/>
        </p:nvSpPr>
        <p:spPr>
          <a:xfrm>
            <a:off x="6492240" y="4974336"/>
            <a:ext cx="685800" cy="47548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2D72"/>
                </a:solidFill>
              </a:rPr>
              <a:t>3</a:t>
            </a:r>
          </a:p>
        </p:txBody>
      </p:sp>
      <p:sp>
        <p:nvSpPr>
          <p:cNvPr id="25" name="TextBox 24"/>
          <p:cNvSpPr txBox="1"/>
          <p:nvPr/>
        </p:nvSpPr>
        <p:spPr>
          <a:xfrm>
            <a:off x="7269480" y="5047488"/>
            <a:ext cx="4389120" cy="365760"/>
          </a:xfrm>
          <a:prstGeom prst="rect">
            <a:avLst/>
          </a:prstGeom>
          <a:noFill/>
        </p:spPr>
        <p:txBody>
          <a:bodyPr wrap="square">
            <a:spAutoFit/>
          </a:bodyPr>
          <a:lstStyle/>
          <a:p>
            <a:pPr algn="l"/>
            <a:r>
              <a:rPr sz="1100" b="0">
                <a:solidFill>
                  <a:srgbClr val="444455"/>
                </a:solidFill>
              </a:rPr>
              <a:t>Posts de conversión directa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02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8229600" cy="640080"/>
          </a:xfrm>
          <a:prstGeom prst="rect">
            <a:avLst/>
          </a:prstGeom>
          <a:noFill/>
        </p:spPr>
        <p:txBody>
          <a:bodyPr wrap="square">
            <a:spAutoFit/>
          </a:bodyPr>
          <a:lstStyle/>
          <a:p>
            <a:pPr algn="l"/>
            <a:r>
              <a:rPr sz="2000" b="1">
                <a:solidFill>
                  <a:srgbClr val="FFFFFF"/>
                </a:solidFill>
              </a:rPr>
              <a:t>IDEAS VISUALES PARA EL DISEÑADOR</a:t>
            </a:r>
          </a:p>
        </p:txBody>
      </p:sp>
      <p:sp>
        <p:nvSpPr>
          <p:cNvPr id="4" name="TextBox 3"/>
          <p:cNvSpPr txBox="1"/>
          <p:nvPr/>
        </p:nvSpPr>
        <p:spPr>
          <a:xfrm>
            <a:off x="365760" y="594360"/>
            <a:ext cx="8229600" cy="292608"/>
          </a:xfrm>
          <a:prstGeom prst="rect">
            <a:avLst/>
          </a:prstGeom>
          <a:noFill/>
        </p:spPr>
        <p:txBody>
          <a:bodyPr wrap="square">
            <a:spAutoFit/>
          </a:bodyPr>
          <a:lstStyle/>
          <a:p>
            <a:pPr algn="l"/>
            <a:r>
              <a:rPr sz="1200" b="0">
                <a:solidFill>
                  <a:srgbClr val="FFC200"/>
                </a:solidFill>
              </a:rPr>
              <a:t>Paleta, recursos y referencias para el equipo creativo</a:t>
            </a:r>
          </a:p>
        </p:txBody>
      </p:sp>
      <p:sp>
        <p:nvSpPr>
          <p:cNvPr id="5" name="Rectangle 4"/>
          <p:cNvSpPr/>
          <p:nvPr/>
        </p:nvSpPr>
        <p:spPr>
          <a:xfrm>
            <a:off x="320040" y="1051560"/>
            <a:ext cx="3794760" cy="25146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379476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 PALETA DEL MES</a:t>
            </a:r>
          </a:p>
        </p:txBody>
      </p:sp>
      <p:sp>
        <p:nvSpPr>
          <p:cNvPr id="7" name="TextBox 6"/>
          <p:cNvSpPr txBox="1"/>
          <p:nvPr/>
        </p:nvSpPr>
        <p:spPr>
          <a:xfrm>
            <a:off x="429768" y="1508760"/>
            <a:ext cx="3566160" cy="1920240"/>
          </a:xfrm>
          <a:prstGeom prst="rect">
            <a:avLst/>
          </a:prstGeom>
          <a:noFill/>
        </p:spPr>
        <p:txBody>
          <a:bodyPr wrap="square">
            <a:spAutoFit/>
          </a:bodyPr>
          <a:lstStyle/>
          <a:p>
            <a:pPr algn="l"/>
            <a:r>
              <a:rPr sz="1100" b="0">
                <a:solidFill>
                  <a:srgbClr val="444455"/>
                </a:solidFill>
              </a:rPr>
              <a:t>Azul marca + Amarillo FIFA
Verde GOL para CTAs
Rojo urgencia para conversión
Fondo oscuro para Reels</a:t>
            </a:r>
          </a:p>
        </p:txBody>
      </p:sp>
      <p:sp>
        <p:nvSpPr>
          <p:cNvPr id="8" name="Rectangle 7"/>
          <p:cNvSpPr/>
          <p:nvPr/>
        </p:nvSpPr>
        <p:spPr>
          <a:xfrm>
            <a:off x="4251959" y="1051560"/>
            <a:ext cx="3794760" cy="25146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59" y="1051560"/>
            <a:ext cx="379476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 RECURSOS VISUALES</a:t>
            </a:r>
          </a:p>
        </p:txBody>
      </p:sp>
      <p:sp>
        <p:nvSpPr>
          <p:cNvPr id="10" name="TextBox 9"/>
          <p:cNvSpPr txBox="1"/>
          <p:nvPr/>
        </p:nvSpPr>
        <p:spPr>
          <a:xfrm>
            <a:off x="4361688" y="1508760"/>
            <a:ext cx="3566160" cy="1920240"/>
          </a:xfrm>
          <a:prstGeom prst="rect">
            <a:avLst/>
          </a:prstGeom>
          <a:noFill/>
        </p:spPr>
        <p:txBody>
          <a:bodyPr wrap="square">
            <a:spAutoFit/>
          </a:bodyPr>
          <a:lstStyle/>
          <a:p>
            <a:pPr algn="l"/>
            <a:r>
              <a:rPr sz="1100" b="0">
                <a:solidFill>
                  <a:srgbClr val="444455"/>
                </a:solidFill>
              </a:rPr>
              <a:t>Balones de fútbol pixelados
Banderas de México, USA, Canadá
Estadios Azteca, Akron, BBVA
Pantallas de marcador</a:t>
            </a:r>
          </a:p>
        </p:txBody>
      </p:sp>
      <p:sp>
        <p:nvSpPr>
          <p:cNvPr id="11" name="Rectangle 10"/>
          <p:cNvSpPr/>
          <p:nvPr/>
        </p:nvSpPr>
        <p:spPr>
          <a:xfrm>
            <a:off x="8183879" y="1051560"/>
            <a:ext cx="3794760" cy="25146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83879" y="1051560"/>
            <a:ext cx="379476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 FORMATOS PRIORITARIOS</a:t>
            </a:r>
          </a:p>
        </p:txBody>
      </p:sp>
      <p:sp>
        <p:nvSpPr>
          <p:cNvPr id="13" name="TextBox 12"/>
          <p:cNvSpPr txBox="1"/>
          <p:nvPr/>
        </p:nvSpPr>
        <p:spPr>
          <a:xfrm>
            <a:off x="8293607" y="1508760"/>
            <a:ext cx="3566160" cy="1920240"/>
          </a:xfrm>
          <a:prstGeom prst="rect">
            <a:avLst/>
          </a:prstGeom>
          <a:noFill/>
        </p:spPr>
        <p:txBody>
          <a:bodyPr wrap="square">
            <a:spAutoFit/>
          </a:bodyPr>
          <a:lstStyle/>
          <a:p>
            <a:pPr algn="l"/>
            <a:r>
              <a:rPr sz="1100" b="0">
                <a:solidFill>
                  <a:srgbClr val="444455"/>
                </a:solidFill>
              </a:rPr>
              <a:t>Reels: 9:16 (1080×1920)
Carrusel: 1:1 (1080×1080)
Estático: 1:1 o 4:5
Story: 9:16 con CTA tap</a:t>
            </a:r>
          </a:p>
        </p:txBody>
      </p:sp>
      <p:sp>
        <p:nvSpPr>
          <p:cNvPr id="14" name="Rectangle 13"/>
          <p:cNvSpPr/>
          <p:nvPr/>
        </p:nvSpPr>
        <p:spPr>
          <a:xfrm>
            <a:off x="320040" y="3703320"/>
            <a:ext cx="3794760" cy="25146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3703320"/>
            <a:ext cx="379476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 ESTILO CREATIVO</a:t>
            </a:r>
          </a:p>
        </p:txBody>
      </p:sp>
      <p:sp>
        <p:nvSpPr>
          <p:cNvPr id="16" name="TextBox 15"/>
          <p:cNvSpPr txBox="1"/>
          <p:nvPr/>
        </p:nvSpPr>
        <p:spPr>
          <a:xfrm>
            <a:off x="429768" y="4160520"/>
            <a:ext cx="3566160" cy="1920240"/>
          </a:xfrm>
          <a:prstGeom prst="rect">
            <a:avLst/>
          </a:prstGeom>
          <a:noFill/>
        </p:spPr>
        <p:txBody>
          <a:bodyPr wrap="square">
            <a:spAutoFit/>
          </a:bodyPr>
          <a:lstStyle/>
          <a:p>
            <a:pPr algn="l"/>
            <a:r>
              <a:rPr sz="1100" b="0">
                <a:solidFill>
                  <a:srgbClr val="444455"/>
                </a:solidFill>
              </a:rPr>
              <a:t>Tipografía bold / impactante
Animaciones rápidas en Reels
Texto grande en pantalla
Humor + educación = viral</a:t>
            </a:r>
          </a:p>
        </p:txBody>
      </p:sp>
      <p:sp>
        <p:nvSpPr>
          <p:cNvPr id="17" name="Rectangle 16"/>
          <p:cNvSpPr/>
          <p:nvPr/>
        </p:nvSpPr>
        <p:spPr>
          <a:xfrm>
            <a:off x="4251959" y="3703320"/>
            <a:ext cx="3794760" cy="25146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59" y="3703320"/>
            <a:ext cx="379476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 HASHTAGS SUGERIDOS</a:t>
            </a:r>
          </a:p>
        </p:txBody>
      </p:sp>
      <p:sp>
        <p:nvSpPr>
          <p:cNvPr id="19" name="TextBox 18"/>
          <p:cNvSpPr txBox="1"/>
          <p:nvPr/>
        </p:nvSpPr>
        <p:spPr>
          <a:xfrm>
            <a:off x="4361688" y="4160520"/>
            <a:ext cx="3566160" cy="1920240"/>
          </a:xfrm>
          <a:prstGeom prst="rect">
            <a:avLst/>
          </a:prstGeom>
          <a:noFill/>
        </p:spPr>
        <p:txBody>
          <a:bodyPr wrap="square">
            <a:spAutoFit/>
          </a:bodyPr>
          <a:lstStyle/>
          <a:p>
            <a:pPr algn="l"/>
            <a:r>
              <a:rPr sz="1100" b="0">
                <a:solidFill>
                  <a:srgbClr val="444455"/>
                </a:solidFill>
              </a:rPr>
              <a:t>#InglésYA #Mundial2026
#AprendeIngles #FIFAWorldCup2026
#InglésEnElMundial
#NoTeQuedesConCaraDeWhat</a:t>
            </a:r>
          </a:p>
        </p:txBody>
      </p:sp>
      <p:sp>
        <p:nvSpPr>
          <p:cNvPr id="20" name="Rectangle 19"/>
          <p:cNvSpPr/>
          <p:nvPr/>
        </p:nvSpPr>
        <p:spPr>
          <a:xfrm>
            <a:off x="8183879" y="3703320"/>
            <a:ext cx="3794760" cy="2514600"/>
          </a:xfrm>
          <a:prstGeom prst="rect">
            <a:avLst/>
          </a:prstGeom>
          <a:solidFill>
            <a:srgbClr val="FFFFFF"/>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3703320"/>
            <a:ext cx="3794760" cy="38404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 DÍAS DE MAYOR IMPACTO</a:t>
            </a:r>
          </a:p>
        </p:txBody>
      </p:sp>
      <p:sp>
        <p:nvSpPr>
          <p:cNvPr id="22" name="TextBox 21"/>
          <p:cNvSpPr txBox="1"/>
          <p:nvPr/>
        </p:nvSpPr>
        <p:spPr>
          <a:xfrm>
            <a:off x="8293607" y="4160520"/>
            <a:ext cx="3566160" cy="1920240"/>
          </a:xfrm>
          <a:prstGeom prst="rect">
            <a:avLst/>
          </a:prstGeom>
          <a:noFill/>
        </p:spPr>
        <p:txBody>
          <a:bodyPr wrap="square">
            <a:spAutoFit/>
          </a:bodyPr>
          <a:lstStyle/>
          <a:p>
            <a:pPr algn="l"/>
            <a:r>
              <a:rPr sz="1100" b="0">
                <a:solidFill>
                  <a:srgbClr val="444455"/>
                </a:solidFill>
              </a:rPr>
              <a:t>11 Jun — Apertura Mundial ⭐
12 Jun — Recap día 1
Días de partido México
Cierre de grupos 26-27 Jun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2D72"/>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430000" cy="594360"/>
          </a:xfrm>
          <a:prstGeom prst="rect">
            <a:avLst/>
          </a:prstGeom>
          <a:noFill/>
        </p:spPr>
        <p:txBody>
          <a:bodyPr wrap="square">
            <a:spAutoFit/>
          </a:bodyPr>
          <a:lstStyle/>
          <a:p>
            <a:pPr algn="l"/>
            <a:r>
              <a:rPr sz="1800" b="1">
                <a:solidFill>
                  <a:srgbClr val="002D72"/>
                </a:solidFill>
              </a:rPr>
              <a:t>CALENDARIO JUNIO 2026  —  INGLÉS YA × MUNDIAL FIFA 2026</a:t>
            </a:r>
          </a:p>
        </p:txBody>
      </p:sp>
      <p:sp>
        <p:nvSpPr>
          <p:cNvPr id="4" name="Rectangle 3"/>
          <p:cNvSpPr/>
          <p:nvPr/>
        </p:nvSpPr>
        <p:spPr>
          <a:xfrm>
            <a:off x="228600" y="868680"/>
            <a:ext cx="1627632" cy="34747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LUN</a:t>
            </a:r>
          </a:p>
        </p:txBody>
      </p:sp>
      <p:sp>
        <p:nvSpPr>
          <p:cNvPr id="5" name="Rectangle 4"/>
          <p:cNvSpPr/>
          <p:nvPr/>
        </p:nvSpPr>
        <p:spPr>
          <a:xfrm>
            <a:off x="1911095" y="868680"/>
            <a:ext cx="1627632" cy="34747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MAR</a:t>
            </a:r>
          </a:p>
        </p:txBody>
      </p:sp>
      <p:sp>
        <p:nvSpPr>
          <p:cNvPr id="6" name="Rectangle 5"/>
          <p:cNvSpPr/>
          <p:nvPr/>
        </p:nvSpPr>
        <p:spPr>
          <a:xfrm>
            <a:off x="3593592" y="868680"/>
            <a:ext cx="1627632" cy="34747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MIÉ</a:t>
            </a:r>
          </a:p>
        </p:txBody>
      </p:sp>
      <p:sp>
        <p:nvSpPr>
          <p:cNvPr id="7" name="Rectangle 6"/>
          <p:cNvSpPr/>
          <p:nvPr/>
        </p:nvSpPr>
        <p:spPr>
          <a:xfrm>
            <a:off x="5276088" y="868680"/>
            <a:ext cx="1627632" cy="34747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JUE</a:t>
            </a:r>
          </a:p>
        </p:txBody>
      </p:sp>
      <p:sp>
        <p:nvSpPr>
          <p:cNvPr id="8" name="Rectangle 7"/>
          <p:cNvSpPr/>
          <p:nvPr/>
        </p:nvSpPr>
        <p:spPr>
          <a:xfrm>
            <a:off x="6958584" y="868680"/>
            <a:ext cx="1627632" cy="34747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VIE</a:t>
            </a:r>
          </a:p>
        </p:txBody>
      </p:sp>
      <p:sp>
        <p:nvSpPr>
          <p:cNvPr id="9" name="Rectangle 8"/>
          <p:cNvSpPr/>
          <p:nvPr/>
        </p:nvSpPr>
        <p:spPr>
          <a:xfrm>
            <a:off x="8641080" y="868680"/>
            <a:ext cx="1627632" cy="34747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SÁB</a:t>
            </a:r>
          </a:p>
        </p:txBody>
      </p:sp>
      <p:sp>
        <p:nvSpPr>
          <p:cNvPr id="10" name="Rectangle 9"/>
          <p:cNvSpPr/>
          <p:nvPr/>
        </p:nvSpPr>
        <p:spPr>
          <a:xfrm>
            <a:off x="10323576" y="868680"/>
            <a:ext cx="1627632" cy="34747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DOM</a:t>
            </a:r>
          </a:p>
        </p:txBody>
      </p:sp>
      <p:sp>
        <p:nvSpPr>
          <p:cNvPr id="11" name="Rectangle 10"/>
          <p:cNvSpPr/>
          <p:nvPr/>
        </p:nvSpPr>
        <p:spPr>
          <a:xfrm>
            <a:off x="228600" y="1261872"/>
            <a:ext cx="1627632" cy="1005840"/>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19" y="126187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4519" y="126187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a:t>
            </a:r>
          </a:p>
        </p:txBody>
      </p:sp>
      <p:sp>
        <p:nvSpPr>
          <p:cNvPr id="14" name="TextBox 13"/>
          <p:cNvSpPr txBox="1"/>
          <p:nvPr/>
        </p:nvSpPr>
        <p:spPr>
          <a:xfrm>
            <a:off x="1929384" y="1554480"/>
            <a:ext cx="1536192" cy="685800"/>
          </a:xfrm>
          <a:prstGeom prst="rect">
            <a:avLst/>
          </a:prstGeom>
          <a:noFill/>
        </p:spPr>
        <p:txBody>
          <a:bodyPr wrap="square">
            <a:spAutoFit/>
          </a:bodyPr>
          <a:lstStyle/>
          <a:p>
            <a:pPr algn="l"/>
            <a:r>
              <a:rPr sz="900" b="0">
                <a:solidFill>
                  <a:srgbClr val="F2F5FA"/>
                </a:solidFill>
              </a:rPr>
              <a:t>Reel
😅 Offside</a:t>
            </a:r>
          </a:p>
        </p:txBody>
      </p:sp>
      <p:sp>
        <p:nvSpPr>
          <p:cNvPr id="15" name="Rectangle 14"/>
          <p:cNvSpPr/>
          <p:nvPr/>
        </p:nvSpPr>
        <p:spPr>
          <a:xfrm>
            <a:off x="3520440" y="126187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20440" y="126187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3</a:t>
            </a:r>
          </a:p>
        </p:txBody>
      </p:sp>
      <p:sp>
        <p:nvSpPr>
          <p:cNvPr id="17" name="Rectangle 16"/>
          <p:cNvSpPr/>
          <p:nvPr/>
        </p:nvSpPr>
        <p:spPr>
          <a:xfrm>
            <a:off x="5166360" y="126187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6360" y="126187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4</a:t>
            </a:r>
          </a:p>
        </p:txBody>
      </p:sp>
      <p:sp>
        <p:nvSpPr>
          <p:cNvPr id="19" name="TextBox 18"/>
          <p:cNvSpPr txBox="1"/>
          <p:nvPr/>
        </p:nvSpPr>
        <p:spPr>
          <a:xfrm>
            <a:off x="5221224" y="1554480"/>
            <a:ext cx="1536192" cy="685800"/>
          </a:xfrm>
          <a:prstGeom prst="rect">
            <a:avLst/>
          </a:prstGeom>
          <a:noFill/>
        </p:spPr>
        <p:txBody>
          <a:bodyPr wrap="square">
            <a:spAutoFit/>
          </a:bodyPr>
          <a:lstStyle/>
          <a:p>
            <a:pPr algn="l"/>
            <a:r>
              <a:rPr sz="900" b="0">
                <a:solidFill>
                  <a:srgbClr val="F2F5FA"/>
                </a:solidFill>
              </a:rPr>
              <a:t>Carrusel
10 palabras</a:t>
            </a:r>
          </a:p>
        </p:txBody>
      </p:sp>
      <p:sp>
        <p:nvSpPr>
          <p:cNvPr id="20" name="Rectangle 19"/>
          <p:cNvSpPr/>
          <p:nvPr/>
        </p:nvSpPr>
        <p:spPr>
          <a:xfrm>
            <a:off x="6812280" y="126187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6187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5</a:t>
            </a:r>
          </a:p>
        </p:txBody>
      </p:sp>
      <p:sp>
        <p:nvSpPr>
          <p:cNvPr id="22" name="Rectangle 21"/>
          <p:cNvSpPr/>
          <p:nvPr/>
        </p:nvSpPr>
        <p:spPr>
          <a:xfrm>
            <a:off x="8458200" y="126187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58200" y="126187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6</a:t>
            </a:r>
          </a:p>
        </p:txBody>
      </p:sp>
      <p:sp>
        <p:nvSpPr>
          <p:cNvPr id="24" name="TextBox 23"/>
          <p:cNvSpPr txBox="1"/>
          <p:nvPr/>
        </p:nvSpPr>
        <p:spPr>
          <a:xfrm>
            <a:off x="8513064" y="1554480"/>
            <a:ext cx="1536192" cy="685800"/>
          </a:xfrm>
          <a:prstGeom prst="rect">
            <a:avLst/>
          </a:prstGeom>
          <a:noFill/>
        </p:spPr>
        <p:txBody>
          <a:bodyPr wrap="square">
            <a:spAutoFit/>
          </a:bodyPr>
          <a:lstStyle/>
          <a:p>
            <a:pPr algn="l"/>
            <a:r>
              <a:rPr sz="900" b="0">
                <a:solidFill>
                  <a:srgbClr val="F2F5FA"/>
                </a:solidFill>
              </a:rPr>
              <a:t>Estático
⏳ 5 días</a:t>
            </a:r>
          </a:p>
        </p:txBody>
      </p:sp>
      <p:sp>
        <p:nvSpPr>
          <p:cNvPr id="25" name="Rectangle 24"/>
          <p:cNvSpPr/>
          <p:nvPr/>
        </p:nvSpPr>
        <p:spPr>
          <a:xfrm>
            <a:off x="10104120" y="126187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04120" y="126187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7</a:t>
            </a:r>
          </a:p>
        </p:txBody>
      </p:sp>
      <p:sp>
        <p:nvSpPr>
          <p:cNvPr id="27" name="TextBox 26"/>
          <p:cNvSpPr txBox="1"/>
          <p:nvPr/>
        </p:nvSpPr>
        <p:spPr>
          <a:xfrm>
            <a:off x="10158984" y="1554480"/>
            <a:ext cx="1536192" cy="685800"/>
          </a:xfrm>
          <a:prstGeom prst="rect">
            <a:avLst/>
          </a:prstGeom>
          <a:noFill/>
        </p:spPr>
        <p:txBody>
          <a:bodyPr wrap="square">
            <a:spAutoFit/>
          </a:bodyPr>
          <a:lstStyle/>
          <a:p>
            <a:pPr algn="l"/>
            <a:r>
              <a:rPr sz="900" b="0">
                <a:solidFill>
                  <a:srgbClr val="F2F5FA"/>
                </a:solidFill>
              </a:rPr>
              <a:t>Story
POLL</a:t>
            </a:r>
          </a:p>
        </p:txBody>
      </p:sp>
      <p:sp>
        <p:nvSpPr>
          <p:cNvPr id="28" name="Rectangle 27"/>
          <p:cNvSpPr/>
          <p:nvPr/>
        </p:nvSpPr>
        <p:spPr>
          <a:xfrm>
            <a:off x="228600" y="231343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28600" y="231343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8</a:t>
            </a:r>
          </a:p>
        </p:txBody>
      </p:sp>
      <p:sp>
        <p:nvSpPr>
          <p:cNvPr id="30" name="Rectangle 29"/>
          <p:cNvSpPr/>
          <p:nvPr/>
        </p:nvSpPr>
        <p:spPr>
          <a:xfrm>
            <a:off x="1874519" y="231343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74519" y="231343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9</a:t>
            </a:r>
          </a:p>
        </p:txBody>
      </p:sp>
      <p:sp>
        <p:nvSpPr>
          <p:cNvPr id="32" name="TextBox 31"/>
          <p:cNvSpPr txBox="1"/>
          <p:nvPr/>
        </p:nvSpPr>
        <p:spPr>
          <a:xfrm>
            <a:off x="1929384" y="2606040"/>
            <a:ext cx="1536192" cy="685800"/>
          </a:xfrm>
          <a:prstGeom prst="rect">
            <a:avLst/>
          </a:prstGeom>
          <a:noFill/>
        </p:spPr>
        <p:txBody>
          <a:bodyPr wrap="square">
            <a:spAutoFit/>
          </a:bodyPr>
          <a:lstStyle/>
          <a:p>
            <a:pPr algn="l"/>
            <a:r>
              <a:rPr sz="900" b="0">
                <a:solidFill>
                  <a:srgbClr val="F2F5FA"/>
                </a:solidFill>
              </a:rPr>
              <a:t>Estático
🚨 2 días</a:t>
            </a:r>
          </a:p>
        </p:txBody>
      </p:sp>
      <p:sp>
        <p:nvSpPr>
          <p:cNvPr id="33" name="Rectangle 32"/>
          <p:cNvSpPr/>
          <p:nvPr/>
        </p:nvSpPr>
        <p:spPr>
          <a:xfrm>
            <a:off x="3520440" y="231343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20440" y="231343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10</a:t>
            </a:r>
          </a:p>
        </p:txBody>
      </p:sp>
      <p:sp>
        <p:nvSpPr>
          <p:cNvPr id="35" name="Rectangle 34"/>
          <p:cNvSpPr/>
          <p:nvPr/>
        </p:nvSpPr>
        <p:spPr>
          <a:xfrm>
            <a:off x="5166360" y="2313432"/>
            <a:ext cx="1627632" cy="1005840"/>
          </a:xfrm>
          <a:prstGeom prst="rect">
            <a:avLst/>
          </a:prstGeom>
          <a:solidFill>
            <a:srgbClr val="220A0A"/>
          </a:solidFill>
          <a:ln w="19050">
            <a:solidFill>
              <a:srgbClr val="E0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166360" y="2313432"/>
            <a:ext cx="1627632" cy="274320"/>
          </a:xfrm>
          <a:prstGeom prst="rect">
            <a:avLst/>
          </a:prstGeom>
          <a:solidFill>
            <a:srgbClr val="E01C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11</a:t>
            </a:r>
          </a:p>
        </p:txBody>
      </p:sp>
      <p:sp>
        <p:nvSpPr>
          <p:cNvPr id="37" name="TextBox 36"/>
          <p:cNvSpPr txBox="1"/>
          <p:nvPr/>
        </p:nvSpPr>
        <p:spPr>
          <a:xfrm>
            <a:off x="5221224" y="2606040"/>
            <a:ext cx="1536192" cy="685800"/>
          </a:xfrm>
          <a:prstGeom prst="rect">
            <a:avLst/>
          </a:prstGeom>
          <a:noFill/>
        </p:spPr>
        <p:txBody>
          <a:bodyPr wrap="square">
            <a:spAutoFit/>
          </a:bodyPr>
          <a:lstStyle/>
          <a:p>
            <a:pPr algn="l"/>
            <a:r>
              <a:rPr sz="900" b="0">
                <a:solidFill>
                  <a:srgbClr val="F2F5FA"/>
                </a:solidFill>
              </a:rPr>
              <a:t>🔴 Reel
ARRANQUE⭐</a:t>
            </a:r>
          </a:p>
        </p:txBody>
      </p:sp>
      <p:sp>
        <p:nvSpPr>
          <p:cNvPr id="38" name="Rectangle 37"/>
          <p:cNvSpPr/>
          <p:nvPr/>
        </p:nvSpPr>
        <p:spPr>
          <a:xfrm>
            <a:off x="6812280" y="231343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12280" y="231343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12</a:t>
            </a:r>
          </a:p>
        </p:txBody>
      </p:sp>
      <p:sp>
        <p:nvSpPr>
          <p:cNvPr id="40" name="TextBox 39"/>
          <p:cNvSpPr txBox="1"/>
          <p:nvPr/>
        </p:nvSpPr>
        <p:spPr>
          <a:xfrm>
            <a:off x="6867144" y="2606040"/>
            <a:ext cx="1536192" cy="685800"/>
          </a:xfrm>
          <a:prstGeom prst="rect">
            <a:avLst/>
          </a:prstGeom>
          <a:noFill/>
        </p:spPr>
        <p:txBody>
          <a:bodyPr wrap="square">
            <a:spAutoFit/>
          </a:bodyPr>
          <a:lstStyle/>
          <a:p>
            <a:pPr algn="l"/>
            <a:r>
              <a:rPr sz="900" b="0">
                <a:solidFill>
                  <a:srgbClr val="F2F5FA"/>
                </a:solidFill>
              </a:rPr>
              <a:t>Carrusel
Recap</a:t>
            </a:r>
          </a:p>
        </p:txBody>
      </p:sp>
      <p:sp>
        <p:nvSpPr>
          <p:cNvPr id="41" name="Rectangle 40"/>
          <p:cNvSpPr/>
          <p:nvPr/>
        </p:nvSpPr>
        <p:spPr>
          <a:xfrm>
            <a:off x="8458200" y="231343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58200" y="231343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13</a:t>
            </a:r>
          </a:p>
        </p:txBody>
      </p:sp>
      <p:sp>
        <p:nvSpPr>
          <p:cNvPr id="43" name="TextBox 42"/>
          <p:cNvSpPr txBox="1"/>
          <p:nvPr/>
        </p:nvSpPr>
        <p:spPr>
          <a:xfrm>
            <a:off x="8513064" y="2606040"/>
            <a:ext cx="1536192" cy="685800"/>
          </a:xfrm>
          <a:prstGeom prst="rect">
            <a:avLst/>
          </a:prstGeom>
          <a:noFill/>
        </p:spPr>
        <p:txBody>
          <a:bodyPr wrap="square">
            <a:spAutoFit/>
          </a:bodyPr>
          <a:lstStyle/>
          <a:p>
            <a:pPr algn="l"/>
            <a:r>
              <a:rPr sz="900" b="0">
                <a:solidFill>
                  <a:srgbClr val="F2F5FA"/>
                </a:solidFill>
              </a:rPr>
              <a:t>Reel
Cara WHAT</a:t>
            </a:r>
          </a:p>
        </p:txBody>
      </p:sp>
      <p:sp>
        <p:nvSpPr>
          <p:cNvPr id="44" name="Rectangle 43"/>
          <p:cNvSpPr/>
          <p:nvPr/>
        </p:nvSpPr>
        <p:spPr>
          <a:xfrm>
            <a:off x="10104120" y="231343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104120" y="231343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14</a:t>
            </a:r>
          </a:p>
        </p:txBody>
      </p:sp>
      <p:sp>
        <p:nvSpPr>
          <p:cNvPr id="46" name="TextBox 45"/>
          <p:cNvSpPr txBox="1"/>
          <p:nvPr/>
        </p:nvSpPr>
        <p:spPr>
          <a:xfrm>
            <a:off x="10158984" y="2606040"/>
            <a:ext cx="1536192" cy="685800"/>
          </a:xfrm>
          <a:prstGeom prst="rect">
            <a:avLst/>
          </a:prstGeom>
          <a:noFill/>
        </p:spPr>
        <p:txBody>
          <a:bodyPr wrap="square">
            <a:spAutoFit/>
          </a:bodyPr>
          <a:lstStyle/>
          <a:p>
            <a:pPr algn="l"/>
            <a:r>
              <a:rPr sz="900" b="0">
                <a:solidFill>
                  <a:srgbClr val="F2F5FA"/>
                </a:solidFill>
              </a:rPr>
              <a:t>Story
Quiz</a:t>
            </a:r>
          </a:p>
        </p:txBody>
      </p:sp>
      <p:sp>
        <p:nvSpPr>
          <p:cNvPr id="47" name="Rectangle 46"/>
          <p:cNvSpPr/>
          <p:nvPr/>
        </p:nvSpPr>
        <p:spPr>
          <a:xfrm>
            <a:off x="228600" y="336499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28600" y="336499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15</a:t>
            </a:r>
          </a:p>
        </p:txBody>
      </p:sp>
      <p:sp>
        <p:nvSpPr>
          <p:cNvPr id="49" name="Rectangle 48"/>
          <p:cNvSpPr/>
          <p:nvPr/>
        </p:nvSpPr>
        <p:spPr>
          <a:xfrm>
            <a:off x="1874519" y="336499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874519" y="336499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16</a:t>
            </a:r>
          </a:p>
        </p:txBody>
      </p:sp>
      <p:sp>
        <p:nvSpPr>
          <p:cNvPr id="51" name="TextBox 50"/>
          <p:cNvSpPr txBox="1"/>
          <p:nvPr/>
        </p:nvSpPr>
        <p:spPr>
          <a:xfrm>
            <a:off x="1929384" y="3657600"/>
            <a:ext cx="1536192" cy="685800"/>
          </a:xfrm>
          <a:prstGeom prst="rect">
            <a:avLst/>
          </a:prstGeom>
          <a:noFill/>
        </p:spPr>
        <p:txBody>
          <a:bodyPr wrap="square">
            <a:spAutoFit/>
          </a:bodyPr>
          <a:lstStyle/>
          <a:p>
            <a:pPr algn="l"/>
            <a:r>
              <a:rPr sz="900" b="0">
                <a:solidFill>
                  <a:srgbClr val="F2F5FA"/>
                </a:solidFill>
              </a:rPr>
              <a:t>Carrusel
10 errores</a:t>
            </a:r>
          </a:p>
        </p:txBody>
      </p:sp>
      <p:sp>
        <p:nvSpPr>
          <p:cNvPr id="52" name="Rectangle 51"/>
          <p:cNvSpPr/>
          <p:nvPr/>
        </p:nvSpPr>
        <p:spPr>
          <a:xfrm>
            <a:off x="3520440" y="336499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520440" y="336499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17</a:t>
            </a:r>
          </a:p>
        </p:txBody>
      </p:sp>
      <p:sp>
        <p:nvSpPr>
          <p:cNvPr id="54" name="TextBox 53"/>
          <p:cNvSpPr txBox="1"/>
          <p:nvPr/>
        </p:nvSpPr>
        <p:spPr>
          <a:xfrm>
            <a:off x="3575304" y="3657600"/>
            <a:ext cx="1536192" cy="685800"/>
          </a:xfrm>
          <a:prstGeom prst="rect">
            <a:avLst/>
          </a:prstGeom>
          <a:noFill/>
        </p:spPr>
        <p:txBody>
          <a:bodyPr wrap="square">
            <a:spAutoFit/>
          </a:bodyPr>
          <a:lstStyle/>
          <a:p>
            <a:pPr algn="l"/>
            <a:r>
              <a:rPr sz="900" b="0">
                <a:solidFill>
                  <a:srgbClr val="F2F5FA"/>
                </a:solidFill>
              </a:rPr>
              <a:t>Reel
USA⚽</a:t>
            </a:r>
          </a:p>
        </p:txBody>
      </p:sp>
      <p:sp>
        <p:nvSpPr>
          <p:cNvPr id="55" name="Rectangle 54"/>
          <p:cNvSpPr/>
          <p:nvPr/>
        </p:nvSpPr>
        <p:spPr>
          <a:xfrm>
            <a:off x="5166360" y="336499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166360" y="336499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18</a:t>
            </a:r>
          </a:p>
        </p:txBody>
      </p:sp>
      <p:sp>
        <p:nvSpPr>
          <p:cNvPr id="57" name="TextBox 56"/>
          <p:cNvSpPr txBox="1"/>
          <p:nvPr/>
        </p:nvSpPr>
        <p:spPr>
          <a:xfrm>
            <a:off x="5221224" y="3657600"/>
            <a:ext cx="1536192" cy="685800"/>
          </a:xfrm>
          <a:prstGeom prst="rect">
            <a:avLst/>
          </a:prstGeom>
          <a:noFill/>
        </p:spPr>
        <p:txBody>
          <a:bodyPr wrap="square">
            <a:spAutoFit/>
          </a:bodyPr>
          <a:lstStyle/>
          <a:p>
            <a:pPr algn="l"/>
            <a:r>
              <a:rPr sz="900" b="0">
                <a:solidFill>
                  <a:srgbClr val="F2F5FA"/>
                </a:solidFill>
              </a:rPr>
              <a:t>Estático
Testimonio</a:t>
            </a:r>
          </a:p>
        </p:txBody>
      </p:sp>
      <p:sp>
        <p:nvSpPr>
          <p:cNvPr id="58" name="Rectangle 57"/>
          <p:cNvSpPr/>
          <p:nvPr/>
        </p:nvSpPr>
        <p:spPr>
          <a:xfrm>
            <a:off x="6812280" y="336499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12280" y="336499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19</a:t>
            </a:r>
          </a:p>
        </p:txBody>
      </p:sp>
      <p:sp>
        <p:nvSpPr>
          <p:cNvPr id="60" name="TextBox 59"/>
          <p:cNvSpPr txBox="1"/>
          <p:nvPr/>
        </p:nvSpPr>
        <p:spPr>
          <a:xfrm>
            <a:off x="6867144" y="3657600"/>
            <a:ext cx="1536192" cy="685800"/>
          </a:xfrm>
          <a:prstGeom prst="rect">
            <a:avLst/>
          </a:prstGeom>
          <a:noFill/>
        </p:spPr>
        <p:txBody>
          <a:bodyPr wrap="square">
            <a:spAutoFit/>
          </a:bodyPr>
          <a:lstStyle/>
          <a:p>
            <a:pPr algn="l"/>
            <a:r>
              <a:rPr sz="900" b="0">
                <a:solidFill>
                  <a:srgbClr val="F2F5FA"/>
                </a:solidFill>
              </a:rPr>
              <a:t>Carrusel
Jugadores</a:t>
            </a:r>
          </a:p>
        </p:txBody>
      </p:sp>
      <p:sp>
        <p:nvSpPr>
          <p:cNvPr id="61" name="Rectangle 60"/>
          <p:cNvSpPr/>
          <p:nvPr/>
        </p:nvSpPr>
        <p:spPr>
          <a:xfrm>
            <a:off x="8458200" y="336499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458200" y="336499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20</a:t>
            </a:r>
          </a:p>
        </p:txBody>
      </p:sp>
      <p:sp>
        <p:nvSpPr>
          <p:cNvPr id="63" name="Rectangle 62"/>
          <p:cNvSpPr/>
          <p:nvPr/>
        </p:nvSpPr>
        <p:spPr>
          <a:xfrm>
            <a:off x="10104120" y="336499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104120" y="336499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21</a:t>
            </a:r>
          </a:p>
        </p:txBody>
      </p:sp>
      <p:sp>
        <p:nvSpPr>
          <p:cNvPr id="65" name="TextBox 64"/>
          <p:cNvSpPr txBox="1"/>
          <p:nvPr/>
        </p:nvSpPr>
        <p:spPr>
          <a:xfrm>
            <a:off x="10158984" y="3657600"/>
            <a:ext cx="1536192" cy="685800"/>
          </a:xfrm>
          <a:prstGeom prst="rect">
            <a:avLst/>
          </a:prstGeom>
          <a:noFill/>
        </p:spPr>
        <p:txBody>
          <a:bodyPr wrap="square">
            <a:spAutoFit/>
          </a:bodyPr>
          <a:lstStyle/>
          <a:p>
            <a:pPr algn="l"/>
            <a:r>
              <a:rPr sz="900" b="0">
                <a:solidFill>
                  <a:srgbClr val="F2F5FA"/>
                </a:solidFill>
              </a:rPr>
              <a:t>Reel
Challenge</a:t>
            </a:r>
          </a:p>
        </p:txBody>
      </p:sp>
      <p:sp>
        <p:nvSpPr>
          <p:cNvPr id="66" name="Rectangle 65"/>
          <p:cNvSpPr/>
          <p:nvPr/>
        </p:nvSpPr>
        <p:spPr>
          <a:xfrm>
            <a:off x="228600" y="441655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28600" y="441655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22</a:t>
            </a:r>
          </a:p>
        </p:txBody>
      </p:sp>
      <p:sp>
        <p:nvSpPr>
          <p:cNvPr id="68" name="Rectangle 67"/>
          <p:cNvSpPr/>
          <p:nvPr/>
        </p:nvSpPr>
        <p:spPr>
          <a:xfrm>
            <a:off x="1874519" y="441655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874519" y="441655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23</a:t>
            </a:r>
          </a:p>
        </p:txBody>
      </p:sp>
      <p:sp>
        <p:nvSpPr>
          <p:cNvPr id="70" name="TextBox 69"/>
          <p:cNvSpPr txBox="1"/>
          <p:nvPr/>
        </p:nvSpPr>
        <p:spPr>
          <a:xfrm>
            <a:off x="1929384" y="4709160"/>
            <a:ext cx="1536192" cy="685800"/>
          </a:xfrm>
          <a:prstGeom prst="rect">
            <a:avLst/>
          </a:prstGeom>
          <a:noFill/>
        </p:spPr>
        <p:txBody>
          <a:bodyPr wrap="square">
            <a:spAutoFit/>
          </a:bodyPr>
          <a:lstStyle/>
          <a:p>
            <a:pPr algn="l"/>
            <a:r>
              <a:rPr sz="900" b="0">
                <a:solidFill>
                  <a:srgbClr val="F2F5FA"/>
                </a:solidFill>
              </a:rPr>
              <a:t>Carrusel
TOP 10</a:t>
            </a:r>
          </a:p>
        </p:txBody>
      </p:sp>
      <p:sp>
        <p:nvSpPr>
          <p:cNvPr id="71" name="Rectangle 70"/>
          <p:cNvSpPr/>
          <p:nvPr/>
        </p:nvSpPr>
        <p:spPr>
          <a:xfrm>
            <a:off x="3520440" y="441655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520440" y="441655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24</a:t>
            </a:r>
          </a:p>
        </p:txBody>
      </p:sp>
      <p:sp>
        <p:nvSpPr>
          <p:cNvPr id="73" name="TextBox 72"/>
          <p:cNvSpPr txBox="1"/>
          <p:nvPr/>
        </p:nvSpPr>
        <p:spPr>
          <a:xfrm>
            <a:off x="3575304" y="4709160"/>
            <a:ext cx="1536192" cy="685800"/>
          </a:xfrm>
          <a:prstGeom prst="rect">
            <a:avLst/>
          </a:prstGeom>
          <a:noFill/>
        </p:spPr>
        <p:txBody>
          <a:bodyPr wrap="square">
            <a:spAutoFit/>
          </a:bodyPr>
          <a:lstStyle/>
          <a:p>
            <a:pPr algn="l"/>
            <a:r>
              <a:rPr sz="900" b="0">
                <a:solidFill>
                  <a:srgbClr val="F2F5FA"/>
                </a:solidFill>
              </a:rPr>
              <a:t>Reel
Vestuarios</a:t>
            </a:r>
          </a:p>
        </p:txBody>
      </p:sp>
      <p:sp>
        <p:nvSpPr>
          <p:cNvPr id="74" name="Rectangle 73"/>
          <p:cNvSpPr/>
          <p:nvPr/>
        </p:nvSpPr>
        <p:spPr>
          <a:xfrm>
            <a:off x="5166360" y="441655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166360" y="441655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25</a:t>
            </a:r>
          </a:p>
        </p:txBody>
      </p:sp>
      <p:sp>
        <p:nvSpPr>
          <p:cNvPr id="76" name="Rectangle 75"/>
          <p:cNvSpPr/>
          <p:nvPr/>
        </p:nvSpPr>
        <p:spPr>
          <a:xfrm>
            <a:off x="6812280" y="4416552"/>
            <a:ext cx="1627632" cy="1005840"/>
          </a:xfrm>
          <a:prstGeom prst="rect">
            <a:avLst/>
          </a:prstGeom>
          <a:solidFill>
            <a:srgbClr val="0A2A5E"/>
          </a:solidFill>
          <a:ln w="19050">
            <a:solidFill>
              <a:srgbClr val="FFC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812280" y="4416552"/>
            <a:ext cx="1627632" cy="27432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2D72"/>
                </a:solidFill>
              </a:rPr>
              <a:t>26</a:t>
            </a:r>
          </a:p>
        </p:txBody>
      </p:sp>
      <p:sp>
        <p:nvSpPr>
          <p:cNvPr id="78" name="TextBox 77"/>
          <p:cNvSpPr txBox="1"/>
          <p:nvPr/>
        </p:nvSpPr>
        <p:spPr>
          <a:xfrm>
            <a:off x="6867144" y="4709160"/>
            <a:ext cx="1536192" cy="685800"/>
          </a:xfrm>
          <a:prstGeom prst="rect">
            <a:avLst/>
          </a:prstGeom>
          <a:noFill/>
        </p:spPr>
        <p:txBody>
          <a:bodyPr wrap="square">
            <a:spAutoFit/>
          </a:bodyPr>
          <a:lstStyle/>
          <a:p>
            <a:pPr algn="l"/>
            <a:r>
              <a:rPr sz="900" b="0">
                <a:solidFill>
                  <a:srgbClr val="F2F5FA"/>
                </a:solidFill>
              </a:rPr>
              <a:t>Estático
💰OFERTA</a:t>
            </a:r>
          </a:p>
        </p:txBody>
      </p:sp>
      <p:sp>
        <p:nvSpPr>
          <p:cNvPr id="79" name="Rectangle 78"/>
          <p:cNvSpPr/>
          <p:nvPr/>
        </p:nvSpPr>
        <p:spPr>
          <a:xfrm>
            <a:off x="8458200" y="441655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458200" y="441655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27</a:t>
            </a:r>
          </a:p>
        </p:txBody>
      </p:sp>
      <p:sp>
        <p:nvSpPr>
          <p:cNvPr id="81" name="TextBox 80"/>
          <p:cNvSpPr txBox="1"/>
          <p:nvPr/>
        </p:nvSpPr>
        <p:spPr>
          <a:xfrm>
            <a:off x="8513064" y="4709160"/>
            <a:ext cx="1536192" cy="685800"/>
          </a:xfrm>
          <a:prstGeom prst="rect">
            <a:avLst/>
          </a:prstGeom>
          <a:noFill/>
        </p:spPr>
        <p:txBody>
          <a:bodyPr wrap="square">
            <a:spAutoFit/>
          </a:bodyPr>
          <a:lstStyle/>
          <a:p>
            <a:pPr algn="l"/>
            <a:r>
              <a:rPr sz="900" b="0">
                <a:solidFill>
                  <a:srgbClr val="F2F5FA"/>
                </a:solidFill>
              </a:rPr>
              <a:t>Reel
Recap</a:t>
            </a:r>
          </a:p>
        </p:txBody>
      </p:sp>
      <p:sp>
        <p:nvSpPr>
          <p:cNvPr id="82" name="Rectangle 81"/>
          <p:cNvSpPr/>
          <p:nvPr/>
        </p:nvSpPr>
        <p:spPr>
          <a:xfrm>
            <a:off x="10104120" y="441655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104120" y="441655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28</a:t>
            </a:r>
          </a:p>
        </p:txBody>
      </p:sp>
      <p:sp>
        <p:nvSpPr>
          <p:cNvPr id="84" name="TextBox 83"/>
          <p:cNvSpPr txBox="1"/>
          <p:nvPr/>
        </p:nvSpPr>
        <p:spPr>
          <a:xfrm>
            <a:off x="10158984" y="4709160"/>
            <a:ext cx="1536192" cy="685800"/>
          </a:xfrm>
          <a:prstGeom prst="rect">
            <a:avLst/>
          </a:prstGeom>
          <a:noFill/>
        </p:spPr>
        <p:txBody>
          <a:bodyPr wrap="square">
            <a:spAutoFit/>
          </a:bodyPr>
          <a:lstStyle/>
          <a:p>
            <a:pPr algn="l"/>
            <a:r>
              <a:rPr sz="900" b="0">
                <a:solidFill>
                  <a:srgbClr val="F2F5FA"/>
                </a:solidFill>
              </a:rPr>
              <a:t>Story
Urgencia</a:t>
            </a:r>
          </a:p>
        </p:txBody>
      </p:sp>
      <p:sp>
        <p:nvSpPr>
          <p:cNvPr id="85" name="Rectangle 84"/>
          <p:cNvSpPr/>
          <p:nvPr/>
        </p:nvSpPr>
        <p:spPr>
          <a:xfrm>
            <a:off x="228600" y="546811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28600" y="546811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29</a:t>
            </a:r>
          </a:p>
        </p:txBody>
      </p:sp>
      <p:sp>
        <p:nvSpPr>
          <p:cNvPr id="87" name="Rectangle 86"/>
          <p:cNvSpPr/>
          <p:nvPr/>
        </p:nvSpPr>
        <p:spPr>
          <a:xfrm>
            <a:off x="1874519" y="5468112"/>
            <a:ext cx="1627632" cy="1005840"/>
          </a:xfrm>
          <a:prstGeom prst="rect">
            <a:avLst/>
          </a:prstGeom>
          <a:solidFill>
            <a:srgbClr val="0A2A5E"/>
          </a:solidFill>
          <a:ln w="19050">
            <a:solidFill>
              <a:srgbClr val="005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874519" y="5468112"/>
            <a:ext cx="1627632" cy="274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30</a:t>
            </a:r>
          </a:p>
        </p:txBody>
      </p:sp>
      <p:sp>
        <p:nvSpPr>
          <p:cNvPr id="89" name="TextBox 88"/>
          <p:cNvSpPr txBox="1"/>
          <p:nvPr/>
        </p:nvSpPr>
        <p:spPr>
          <a:xfrm>
            <a:off x="1929384" y="5760720"/>
            <a:ext cx="1536192" cy="685800"/>
          </a:xfrm>
          <a:prstGeom prst="rect">
            <a:avLst/>
          </a:prstGeom>
          <a:noFill/>
        </p:spPr>
        <p:txBody>
          <a:bodyPr wrap="square">
            <a:spAutoFit/>
          </a:bodyPr>
          <a:lstStyle/>
          <a:p>
            <a:pPr algn="l"/>
            <a:r>
              <a:rPr sz="900" b="0">
                <a:solidFill>
                  <a:srgbClr val="F2F5FA"/>
                </a:solidFill>
              </a:rPr>
              <a:t>Reel
🏆 Octavos</a:t>
            </a:r>
          </a:p>
        </p:txBody>
      </p:sp>
      <p:sp>
        <p:nvSpPr>
          <p:cNvPr id="90" name="Rectangle 89"/>
          <p:cNvSpPr/>
          <p:nvPr/>
        </p:nvSpPr>
        <p:spPr>
          <a:xfrm>
            <a:off x="3520440" y="5468112"/>
            <a:ext cx="1627632" cy="1005840"/>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166360" y="5468112"/>
            <a:ext cx="1627632" cy="1005840"/>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812280" y="5468112"/>
            <a:ext cx="1627632" cy="1005840"/>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458200" y="5468112"/>
            <a:ext cx="1627632" cy="1005840"/>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104120" y="5468112"/>
            <a:ext cx="1627632" cy="1005840"/>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