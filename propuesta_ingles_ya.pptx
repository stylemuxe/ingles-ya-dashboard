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0" d="100"/>
          <a:sy n="90" d="100"/>
        </p:scale>
        <p:origin x="1234" y="4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3399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02020"/>
          </a:solidFill>
          <a:ln w="12700">
            <a:solidFill>
              <a:srgbClr val="E02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64008"/>
          </a:xfrm>
          <a:prstGeom prst="rect">
            <a:avLst/>
          </a:prstGeom>
          <a:solidFill>
            <a:srgbClr val="1B3FA0"/>
          </a:solidFill>
          <a:ln w="12700">
            <a:solidFill>
              <a:srgbClr val="1B3F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457200"/>
            <a:ext cx="8686800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82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IRVING FABIÁN SÁNCHEZ  ·  ESTRATEGIA DIGITAL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0" y="18288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822960"/>
            <a:ext cx="3200400" cy="320040"/>
          </a:xfrm>
          <a:prstGeom prst="rect">
            <a:avLst/>
          </a:prstGeom>
          <a:solidFill>
            <a:srgbClr val="1A0000"/>
          </a:solidFill>
          <a:ln w="6350">
            <a:solidFill>
              <a:srgbClr val="E02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822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kern="0" spc="150" dirty="0">
                <a:solidFill>
                  <a:srgbClr val="E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PROPUESTA DE SERVICIOS DIGITALES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28600" y="123444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5F4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ESTRATEGIA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228600" y="214884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E02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DIGITAL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228600" y="30632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1B3F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INGLÉS YA</a:t>
            </a:r>
            <a:endParaRPr lang="en-US" sz="7200" dirty="0"/>
          </a:p>
        </p:txBody>
      </p:sp>
      <p:sp>
        <p:nvSpPr>
          <p:cNvPr id="12" name="Shape 10"/>
          <p:cNvSpPr/>
          <p:nvPr/>
        </p:nvSpPr>
        <p:spPr>
          <a:xfrm>
            <a:off x="228600" y="4663440"/>
            <a:ext cx="8686800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4709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Irving Fabián Sánchez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8600" y="4919472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Tráficker Digital  ·  Estratega de Contenido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QUIÉN SOY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Soy el </a:t>
            </a:r>
            <a:r>
              <a:rPr lang="en-US" sz="3200" b="1" dirty="0">
                <a:solidFill>
                  <a:srgbClr val="E02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especialista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 necesitas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920240"/>
            <a:ext cx="26517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9659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02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3+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24871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Años en paid media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0" y="1920240"/>
            <a:ext cx="26517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9659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02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20+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200400" y="24871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Cuentas gestionadas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035040" y="1920240"/>
            <a:ext cx="26517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19659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02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$1M+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35040" y="24871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MXN en pauta administrada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309067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Soy Irving Fabián Sánchez, especialista en marketing digital con más de 3 años gestionando campañas en Meta Ads y Google Ads para empresas en México.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354787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con datos reales, optimización constante y contenido de calidad para que cada peso invertido genere resultados: más leads, más alumnos, más ingresos.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400507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solo proveedor — tráfico pago, contenido, community y reportes en tiempo real. Todo resuelto.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4358809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Meta Ads (Facebook &amp; Instagram)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663440" y="455371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Producción de video y reels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65760" y="4569121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Google Ads (Search &amp; Display)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663440" y="476402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Fotografía y edición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65760" y="4779433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Estrategia de contenido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63440" y="4974336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Diseño de creativos para anuncios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5760" y="4989745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SEO on-page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663440" y="4401397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Dashboards en tiempo real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DIAGNÓSTICO INICIAL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F4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 QUE VEO EN INGLÉS YA HOY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758952"/>
          </a:xfrm>
          <a:prstGeom prst="rect">
            <a:avLst/>
          </a:prstGeom>
          <a:solidFill>
            <a:srgbClr val="111111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54864" cy="758952"/>
          </a:xfrm>
          <a:prstGeom prst="rect">
            <a:avLst/>
          </a:prstGeom>
          <a:solidFill>
            <a:srgbClr val="1B3FA0"/>
          </a:solidFill>
          <a:ln w="12700">
            <a:solidFill>
              <a:srgbClr val="1B3F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07008"/>
            <a:ext cx="5943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Campañas activas en Meta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453896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 existe inversión en Facebook e Instagram. La oportunidad: optimizar el CPL y escalar lo que funciona.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995160" y="1344168"/>
            <a:ext cx="1645920" cy="256032"/>
          </a:xfrm>
          <a:prstGeom prst="rect">
            <a:avLst/>
          </a:prstGeom>
          <a:solidFill>
            <a:srgbClr val="000A1A"/>
          </a:solidFill>
          <a:ln w="6350">
            <a:solidFill>
              <a:srgbClr val="1B3F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95160" y="1344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OPERACIÓN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365760" y="2029968"/>
            <a:ext cx="8412480" cy="758952"/>
          </a:xfrm>
          <a:prstGeom prst="rect">
            <a:avLst/>
          </a:prstGeom>
          <a:solidFill>
            <a:srgbClr val="111111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029968"/>
            <a:ext cx="54864" cy="758952"/>
          </a:xfrm>
          <a:prstGeom prst="rect">
            <a:avLst/>
          </a:prstGeom>
          <a:solidFill>
            <a:srgbClr val="E02020"/>
          </a:solidFill>
          <a:ln w="12700">
            <a:solidFill>
              <a:srgbClr val="E02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093976"/>
            <a:ext cx="5943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 orgánico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340864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Presencia en redes pero sin estrategia de contenido consistente que genere comunidad y confianza.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995160" y="2231136"/>
            <a:ext cx="1645920" cy="256032"/>
          </a:xfrm>
          <a:prstGeom prst="rect">
            <a:avLst/>
          </a:prstGeom>
          <a:solidFill>
            <a:srgbClr val="1A0000"/>
          </a:solidFill>
          <a:ln w="6350">
            <a:solidFill>
              <a:srgbClr val="E02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95160" y="22311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OPORTUNIDAD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65760" y="2916936"/>
            <a:ext cx="8412480" cy="758952"/>
          </a:xfrm>
          <a:prstGeom prst="rect">
            <a:avLst/>
          </a:prstGeom>
          <a:solidFill>
            <a:srgbClr val="111111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916936"/>
            <a:ext cx="54864" cy="758952"/>
          </a:xfrm>
          <a:prstGeom prst="rect">
            <a:avLst/>
          </a:prstGeom>
          <a:solidFill>
            <a:srgbClr val="E02020"/>
          </a:solidFill>
          <a:ln w="12700">
            <a:solidFill>
              <a:srgbClr val="E020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980944"/>
            <a:ext cx="5943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Sitio web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227832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sitio web no es posible aprovechar Google Ads ni el tráfico de alumnos que ya buscan cursos de inglés en Google.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995160" y="3118104"/>
            <a:ext cx="1645920" cy="256032"/>
          </a:xfrm>
          <a:prstGeom prst="rect">
            <a:avLst/>
          </a:prstGeom>
          <a:solidFill>
            <a:srgbClr val="1A0000"/>
          </a:solidFill>
          <a:ln w="6350">
            <a:solidFill>
              <a:srgbClr val="E02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95160" y="31181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OPORTUNIDAD CRÍTICA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65760" y="3803904"/>
            <a:ext cx="8412480" cy="758952"/>
          </a:xfrm>
          <a:prstGeom prst="rect">
            <a:avLst/>
          </a:prstGeom>
          <a:solidFill>
            <a:srgbClr val="111111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803904"/>
            <a:ext cx="54864" cy="758952"/>
          </a:xfrm>
          <a:prstGeom prst="rect">
            <a:avLst/>
          </a:prstGeom>
          <a:solidFill>
            <a:srgbClr val="E02020"/>
          </a:solidFill>
          <a:ln w="12700">
            <a:solidFill>
              <a:srgbClr val="E020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867912"/>
            <a:ext cx="5943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 y reportes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4114800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reportes claros es difícil saber qué funciona y tomar decisiones con datos reales.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995160" y="4005072"/>
            <a:ext cx="1645920" cy="256032"/>
          </a:xfrm>
          <a:prstGeom prst="rect">
            <a:avLst/>
          </a:prstGeom>
          <a:solidFill>
            <a:srgbClr val="1A0000"/>
          </a:solidFill>
          <a:ln w="6350">
            <a:solidFill>
              <a:srgbClr val="E020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95160" y="40050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02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OPORTUNIDAD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8412480" cy="4114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PAQUETE 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F4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SOLO TRÁFICO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303520" y="65836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5F4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$7,000 – $8,500 / mes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303520" y="107899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IVA  ·  Pauta aparte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65760" y="1389888"/>
            <a:ext cx="8412480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8132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 ADS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84048" y="1847088"/>
            <a:ext cx="82296" cy="82296"/>
          </a:xfrm>
          <a:prstGeom prst="ellipse">
            <a:avLst/>
          </a:prstGeom>
          <a:solidFill>
            <a:srgbClr val="E02020"/>
          </a:solidFill>
          <a:ln w="12700">
            <a:solidFill>
              <a:srgbClr val="E02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1755648"/>
            <a:ext cx="3968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y configuración de campañas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4048" y="2240280"/>
            <a:ext cx="82296" cy="82296"/>
          </a:xfrm>
          <a:prstGeom prst="ellipse">
            <a:avLst/>
          </a:prstGeom>
          <a:solidFill>
            <a:srgbClr val="E02020"/>
          </a:solidFill>
          <a:ln w="12700">
            <a:solidFill>
              <a:srgbClr val="E02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2148840"/>
            <a:ext cx="3968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Optimización de CPL semanal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4048" y="2633472"/>
            <a:ext cx="82296" cy="82296"/>
          </a:xfrm>
          <a:prstGeom prst="ellipse">
            <a:avLst/>
          </a:prstGeom>
          <a:solidFill>
            <a:srgbClr val="E02020"/>
          </a:solidFill>
          <a:ln w="12700">
            <a:solidFill>
              <a:srgbClr val="E02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" y="2542032"/>
            <a:ext cx="3968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y escalación de presupuesto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4048" y="3026664"/>
            <a:ext cx="82296" cy="82296"/>
          </a:xfrm>
          <a:prstGeom prst="ellipse">
            <a:avLst/>
          </a:prstGeom>
          <a:solidFill>
            <a:srgbClr val="E02020"/>
          </a:solidFill>
          <a:ln w="12700">
            <a:solidFill>
              <a:srgbClr val="E02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" y="2935224"/>
            <a:ext cx="3968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A/B de creativos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84048" y="3419856"/>
            <a:ext cx="82296" cy="82296"/>
          </a:xfrm>
          <a:prstGeom prst="ellipse">
            <a:avLst/>
          </a:prstGeom>
          <a:solidFill>
            <a:srgbClr val="E02020"/>
          </a:solidFill>
          <a:ln w="12700">
            <a:solidFill>
              <a:srgbClr val="E020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" y="3328416"/>
            <a:ext cx="3968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Segmentación y audiencias personalizadas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0" y="148132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REPORTES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590288" y="1847088"/>
            <a:ext cx="82296" cy="82296"/>
          </a:xfrm>
          <a:prstGeom prst="ellipse">
            <a:avLst/>
          </a:prstGeom>
          <a:solidFill>
            <a:srgbClr val="E02020"/>
          </a:solidFill>
          <a:ln w="12700">
            <a:solidFill>
              <a:srgbClr val="E02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18304" y="1755648"/>
            <a:ext cx="3968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en tiempo real (24/7)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90288" y="2240280"/>
            <a:ext cx="82296" cy="82296"/>
          </a:xfrm>
          <a:prstGeom prst="ellipse">
            <a:avLst/>
          </a:prstGeom>
          <a:solidFill>
            <a:srgbClr val="E02020"/>
          </a:solidFill>
          <a:ln w="12700">
            <a:solidFill>
              <a:srgbClr val="E020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18304" y="2148840"/>
            <a:ext cx="3968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quincenal por WhatsApp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90288" y="2633472"/>
            <a:ext cx="82296" cy="82296"/>
          </a:xfrm>
          <a:prstGeom prst="ellipse">
            <a:avLst/>
          </a:prstGeom>
          <a:solidFill>
            <a:srgbClr val="E02020"/>
          </a:solidFill>
          <a:ln w="12700">
            <a:solidFill>
              <a:srgbClr val="E020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18304" y="2542032"/>
            <a:ext cx="3968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 ejecutivo mensual en PDF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90288" y="3026664"/>
            <a:ext cx="82296" cy="82296"/>
          </a:xfrm>
          <a:prstGeom prst="ellipse">
            <a:avLst/>
          </a:prstGeom>
          <a:solidFill>
            <a:srgbClr val="E02020"/>
          </a:solidFill>
          <a:ln w="12700">
            <a:solidFill>
              <a:srgbClr val="E020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18304" y="2935224"/>
            <a:ext cx="3968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Briefing de creativos al cliente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4800600"/>
            <a:ext cx="896112" cy="219456"/>
          </a:xfrm>
          <a:prstGeom prst="rect">
            <a:avLst/>
          </a:prstGeom>
          <a:solidFill>
            <a:srgbClr val="111111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800600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FACEBOOK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1353312" y="4800600"/>
            <a:ext cx="973836" cy="219456"/>
          </a:xfrm>
          <a:prstGeom prst="rect">
            <a:avLst/>
          </a:prstGeom>
          <a:solidFill>
            <a:srgbClr val="111111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53312" y="4800600"/>
            <a:ext cx="9738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INSTAGRAM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8412480" cy="365760"/>
          </a:xfrm>
          <a:prstGeom prst="rect">
            <a:avLst/>
          </a:prstGeom>
          <a:solidFill>
            <a:srgbClr val="E02020"/>
          </a:solidFill>
          <a:ln w="12700">
            <a:solidFill>
              <a:srgbClr val="E02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★  PAQUETE 02  ·  RECOMENDADO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F4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TRÁFICO + CONTENIDO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303520" y="65836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5F4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$12,000 – $15,000 / mes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303520" y="107899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IVA  ·  Pauta aparte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65760" y="1389888"/>
            <a:ext cx="8412480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8132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TODO PAQUETE 1 +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84048" y="1847088"/>
            <a:ext cx="82296" cy="82296"/>
          </a:xfrm>
          <a:prstGeom prst="ellipse">
            <a:avLst/>
          </a:prstGeom>
          <a:solidFill>
            <a:srgbClr val="E02020"/>
          </a:solidFill>
          <a:ln w="12700">
            <a:solidFill>
              <a:srgbClr val="E02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1755648"/>
            <a:ext cx="3968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Parrilla de contenido mensual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4048" y="2240280"/>
            <a:ext cx="82296" cy="82296"/>
          </a:xfrm>
          <a:prstGeom prst="ellipse">
            <a:avLst/>
          </a:prstGeom>
          <a:solidFill>
            <a:srgbClr val="E02020"/>
          </a:solidFill>
          <a:ln w="12700">
            <a:solidFill>
              <a:srgbClr val="E02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2148840"/>
            <a:ext cx="3968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publicaciones estáticas / carruseles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4048" y="2633472"/>
            <a:ext cx="82296" cy="82296"/>
          </a:xfrm>
          <a:prstGeom prst="ellipse">
            <a:avLst/>
          </a:prstGeom>
          <a:solidFill>
            <a:srgbClr val="E02020"/>
          </a:solidFill>
          <a:ln w="12700">
            <a:solidFill>
              <a:srgbClr val="E02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" y="2542032"/>
            <a:ext cx="3968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reels o videos cortos al mes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4048" y="3026664"/>
            <a:ext cx="82296" cy="82296"/>
          </a:xfrm>
          <a:prstGeom prst="ellipse">
            <a:avLst/>
          </a:prstGeom>
          <a:solidFill>
            <a:srgbClr val="E02020"/>
          </a:solidFill>
          <a:ln w="12700">
            <a:solidFill>
              <a:srgbClr val="E02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" y="2935224"/>
            <a:ext cx="3968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Fotografía y edición de imagen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84048" y="3419856"/>
            <a:ext cx="82296" cy="82296"/>
          </a:xfrm>
          <a:prstGeom prst="ellipse">
            <a:avLst/>
          </a:prstGeom>
          <a:solidFill>
            <a:srgbClr val="E02020"/>
          </a:solidFill>
          <a:ln w="12700">
            <a:solidFill>
              <a:srgbClr val="E020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" y="3328416"/>
            <a:ext cx="3968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de creativos para anuncios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0" y="148132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PUBLICACIÓN EN 3 PLATAFORMAS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590288" y="1847088"/>
            <a:ext cx="82296" cy="82296"/>
          </a:xfrm>
          <a:prstGeom prst="ellipse">
            <a:avLst/>
          </a:prstGeom>
          <a:solidFill>
            <a:srgbClr val="E02020"/>
          </a:solidFill>
          <a:ln w="12700">
            <a:solidFill>
              <a:srgbClr val="E02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18304" y="1755648"/>
            <a:ext cx="3968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Calendarización y programación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90288" y="2240280"/>
            <a:ext cx="82296" cy="82296"/>
          </a:xfrm>
          <a:prstGeom prst="ellipse">
            <a:avLst/>
          </a:prstGeom>
          <a:solidFill>
            <a:srgbClr val="E02020"/>
          </a:solidFill>
          <a:ln w="12700">
            <a:solidFill>
              <a:srgbClr val="E020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18304" y="2148840"/>
            <a:ext cx="3968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optimizado + hashtags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90288" y="2633472"/>
            <a:ext cx="82296" cy="82296"/>
          </a:xfrm>
          <a:prstGeom prst="ellipse">
            <a:avLst/>
          </a:prstGeom>
          <a:solidFill>
            <a:srgbClr val="E02020"/>
          </a:solidFill>
          <a:ln w="12700">
            <a:solidFill>
              <a:srgbClr val="E020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18304" y="2542032"/>
            <a:ext cx="3968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manejo de mensajes (contact center)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4800600"/>
            <a:ext cx="896112" cy="219456"/>
          </a:xfrm>
          <a:prstGeom prst="rect">
            <a:avLst/>
          </a:prstGeom>
          <a:solidFill>
            <a:srgbClr val="111111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800600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FACEBOOK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1353312" y="4800600"/>
            <a:ext cx="973836" cy="219456"/>
          </a:xfrm>
          <a:prstGeom prst="rect">
            <a:avLst/>
          </a:prstGeom>
          <a:solidFill>
            <a:srgbClr val="111111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53312" y="4800600"/>
            <a:ext cx="9738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INSTAGRAM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2418588" y="4800600"/>
            <a:ext cx="740664" cy="219456"/>
          </a:xfrm>
          <a:prstGeom prst="rect">
            <a:avLst/>
          </a:prstGeom>
          <a:solidFill>
            <a:srgbClr val="111111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18588" y="4800600"/>
            <a:ext cx="74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TIKTOK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8412480" cy="41148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🔒  PAQUETE 03  ·  REQUIERE SITIO WEB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8A8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AGENCIA COMPLETA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303520" y="65836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8A8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$20,000 – $25,000 / mes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303520" y="107899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IVA  ·  Pauta aparte  ·  Requiere sitio web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65760" y="1389888"/>
            <a:ext cx="8412480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8132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TODO PAQUETE 2 +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84048" y="1847088"/>
            <a:ext cx="82296" cy="82296"/>
          </a:xfrm>
          <a:prstGeom prst="ellipse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1755648"/>
            <a:ext cx="3968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Ads Search (palabras clave)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4048" y="2240280"/>
            <a:ext cx="82296" cy="82296"/>
          </a:xfrm>
          <a:prstGeom prst="ellipse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2148840"/>
            <a:ext cx="3968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Display (banners)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4048" y="2633472"/>
            <a:ext cx="82296" cy="82296"/>
          </a:xfrm>
          <a:prstGeom prst="ellipse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" y="2542032"/>
            <a:ext cx="3968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Estrategia digital integral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4048" y="3026664"/>
            <a:ext cx="82296" cy="82296"/>
          </a:xfrm>
          <a:prstGeom prst="ellipse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" y="2935224"/>
            <a:ext cx="3968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 multi-plataforma Meta + Google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0" y="148132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ATENCIÓN PREMIUM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590288" y="1847088"/>
            <a:ext cx="82296" cy="82296"/>
          </a:xfrm>
          <a:prstGeom prst="ellipse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18304" y="1755648"/>
            <a:ext cx="3968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Reunión mensual de estrategia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90288" y="2240280"/>
            <a:ext cx="82296" cy="82296"/>
          </a:xfrm>
          <a:prstGeom prst="ellipse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18304" y="2148840"/>
            <a:ext cx="3968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 trimestral de crecimiento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90288" y="2633472"/>
            <a:ext cx="82296" cy="82296"/>
          </a:xfrm>
          <a:prstGeom prst="ellipse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18304" y="2542032"/>
            <a:ext cx="3968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Soporte prioritario WhatsApp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90288" y="3026664"/>
            <a:ext cx="82296" cy="82296"/>
          </a:xfrm>
          <a:prstGeom prst="ellipse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18304" y="2935224"/>
            <a:ext cx="3968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multi-plataforma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4800600"/>
            <a:ext cx="896112" cy="219456"/>
          </a:xfrm>
          <a:prstGeom prst="rect">
            <a:avLst/>
          </a:prstGeom>
          <a:solidFill>
            <a:srgbClr val="111111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800600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FACEBOOK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1353312" y="4800600"/>
            <a:ext cx="973836" cy="219456"/>
          </a:xfrm>
          <a:prstGeom prst="rect">
            <a:avLst/>
          </a:prstGeom>
          <a:solidFill>
            <a:srgbClr val="111111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53312" y="4800600"/>
            <a:ext cx="9738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INSTAGRAM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2418588" y="4800600"/>
            <a:ext cx="740664" cy="219456"/>
          </a:xfrm>
          <a:prstGeom prst="rect">
            <a:avLst/>
          </a:prstGeom>
          <a:solidFill>
            <a:srgbClr val="111111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18588" y="4800600"/>
            <a:ext cx="74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TIKTOK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3250692" y="4800600"/>
            <a:ext cx="740664" cy="219456"/>
          </a:xfrm>
          <a:prstGeom prst="rect">
            <a:avLst/>
          </a:prstGeom>
          <a:solidFill>
            <a:srgbClr val="111111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50692" y="4800600"/>
            <a:ext cx="74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PROYECTO PREVIO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F4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sitio web que </a:t>
            </a:r>
            <a:r>
              <a:rPr lang="en-US" sz="2600" b="1" dirty="0">
                <a:solidFill>
                  <a:srgbClr val="E02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desbloquea</a:t>
            </a:r>
            <a:r>
              <a:rPr lang="en-US" sz="2600" b="1" dirty="0">
                <a:solidFill>
                  <a:srgbClr val="F5F4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todo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1417320"/>
          </a:xfrm>
          <a:prstGeom prst="rect">
            <a:avLst/>
          </a:prstGeom>
          <a:solidFill>
            <a:srgbClr val="111111"/>
          </a:solidFill>
          <a:ln w="19050">
            <a:solidFill>
              <a:srgbClr val="E02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88720"/>
            <a:ext cx="52120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Inglés YA hoy no tiene sitio web. Miles de personas que buscan cursos de inglés en Google no los encuentran.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sitio con landing pages optimizadas es la base de la estrategia digital — y el paso previo para activar Google Ads y acceder al Paquete 3.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89320" y="1143000"/>
            <a:ext cx="2788920" cy="1417320"/>
          </a:xfrm>
          <a:prstGeom prst="rect">
            <a:avLst/>
          </a:prstGeom>
          <a:solidFill>
            <a:srgbClr val="0D0D0D"/>
          </a:solidFill>
          <a:ln w="6350">
            <a:solidFill>
              <a:srgbClr val="E02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89320" y="1216152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1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INVERSIÓN DE SETUP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989320" y="141732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F4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$25K – $35K MXN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89320" y="1801368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Pago único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89320" y="1993392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F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$3,000/mes mantenimiento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743200"/>
            <a:ext cx="4114800" cy="96012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834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F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y desarrollo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10896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Sitio completo con identidad visual de Inglés YA, responsive y optimizado para conversión.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17720" y="2743200"/>
            <a:ext cx="4114800" cy="96012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834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F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310896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Páginas específicas para cada campaña, diseñadas para convertir visitas en leads.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" y="3794760"/>
            <a:ext cx="4114800" cy="96012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8862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F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on-page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416052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optimizada para que Google posicione el sitio en búsquedas relevantes.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617720" y="3794760"/>
            <a:ext cx="4114800" cy="96012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38862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F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 completa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416052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Pixel, GA4 y Search Console instalados y verificados desde el día uno.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CÓMO TRABAJAMOS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438912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PROCESO MES A MES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01168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D0D0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76479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084832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Accesos, briefing de marca, audiencias y calendario del primer mes.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14600" y="1097280"/>
            <a:ext cx="201168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11430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D0D0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2606040" y="176479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Lanzamiento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06040" y="2084832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Campañas configuradas, primera parrilla y publicación en todas las plataformas.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201168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1430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D0D0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4754880" y="176479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Optimización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2084832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 semanal de métricas, ajuste de presupuestos y renovación de creativos.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812280" y="1097280"/>
            <a:ext cx="201168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03720" y="11430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D0D0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6903720" y="176479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03720" y="2084832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quincenal por WhatsApp + reporte ejecutivo mensual en PDF.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65760" y="3566160"/>
            <a:ext cx="8412480" cy="0"/>
          </a:xfrm>
          <a:prstGeom prst="line">
            <a:avLst/>
          </a:prstGeom>
          <a:noFill/>
          <a:ln w="6350">
            <a:solidFill>
              <a:srgbClr val="D0D0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657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TRANSPARENCIA TOTAL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5760" y="395020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 Dashboard en tiempo real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" y="42519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24/7 a métricas clave: leads, CPL, inversión, alcance e impresiones.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200400" y="395020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 Resumen quincenal WhatsApp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00400" y="42519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mensaje directo cada 15 días con lo más importante y las acciones tomadas.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035040" y="395020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 Reporte ejecutivo mensual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035040" y="42519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profesional con resultados, análisis y propuesta para el mes siguiente.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02020"/>
          </a:solidFill>
          <a:ln w="12700">
            <a:solidFill>
              <a:srgbClr val="E02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0"/>
            <a:ext cx="8595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0" b="1" dirty="0">
                <a:solidFill>
                  <a:srgbClr val="F5F4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LISTO PARA</a:t>
            </a:r>
            <a:endParaRPr lang="en-US" sz="6800" dirty="0"/>
          </a:p>
        </p:txBody>
      </p:sp>
      <p:sp>
        <p:nvSpPr>
          <p:cNvPr id="4" name="Text 2"/>
          <p:cNvSpPr/>
          <p:nvPr/>
        </p:nvSpPr>
        <p:spPr>
          <a:xfrm>
            <a:off x="274320" y="1417320"/>
            <a:ext cx="8595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0" b="1" dirty="0">
                <a:solidFill>
                  <a:srgbClr val="E02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EMPEZAR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274320" y="237744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0" b="1" dirty="0">
                <a:solidFill>
                  <a:srgbClr val="1B3F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¿Y TÚ?</a:t>
            </a:r>
            <a:endParaRPr lang="en-US" sz="6800" dirty="0"/>
          </a:p>
        </p:txBody>
      </p:sp>
      <p:sp>
        <p:nvSpPr>
          <p:cNvPr id="6" name="Text 4"/>
          <p:cNvSpPr/>
          <p:nvPr/>
        </p:nvSpPr>
        <p:spPr>
          <a:xfrm>
            <a:off x="914400" y="38633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momento ideal para arrancar fue hace seis meses. El segundo mejor momento es hoy.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Conversemos y definimos juntos cuál paquete se adapta mejor a lo que necesitas.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4828032"/>
            <a:ext cx="8595360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Irving Fabián Sánchez  ·  Tráficker Digital  ·  Estratega de Contenido  ·  CDMX  ·  Mayo 2026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801</Words>
  <Application>Microsoft Office PowerPoint</Application>
  <PresentationFormat>Presentación en pantalla (16:9)</PresentationFormat>
  <Paragraphs>147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Arial Black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Propuesta Digital — Inglés YA</dc:title>
  <dc:subject>PptxGenJS Presentation</dc:subject>
  <dc:creator>Irving Fabián Sánchez</dc:creator>
  <cp:lastModifiedBy>EDUARDO ANTONIO HERRERA GARCIA</cp:lastModifiedBy>
  <cp:revision>2</cp:revision>
  <dcterms:created xsi:type="dcterms:W3CDTF">2026-05-22T16:39:59Z</dcterms:created>
  <dcterms:modified xsi:type="dcterms:W3CDTF">2026-05-22T16:54:28Z</dcterms:modified>
</cp:coreProperties>
</file>